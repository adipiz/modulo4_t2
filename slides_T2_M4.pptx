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embeddedFontLst>
    <p:embeddedFont>
      <p:font typeface="DM Sans" pitchFamily="2" charset="77"/>
      <p:regular r:id="rId14"/>
      <p:bold r:id="rId15"/>
      <p:italic r:id="rId16"/>
      <p:boldItalic r:id="rId17"/>
    </p:embeddedFont>
    <p:embeddedFont>
      <p:font typeface="DM Sans Medium" pitchFamily="2" charset="77"/>
      <p:regular r:id="rId18"/>
      <p:bold r:id="rId19"/>
      <p:italic r:id="rId20"/>
      <p:boldItalic r:id="rId21"/>
    </p:embeddedFont>
    <p:embeddedFont>
      <p:font typeface="Merriweather" pitchFamily="2" charset="77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F34BDEF-1762-4DCE-B2DC-1E85D35D39B6}">
  <a:tblStyle styleId="{8F34BDEF-1762-4DCE-B2DC-1E85D35D39B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7"/>
    <p:restoredTop sz="94688"/>
  </p:normalViewPr>
  <p:slideViewPr>
    <p:cSldViewPr snapToGrid="0">
      <p:cViewPr varScale="1">
        <p:scale>
          <a:sx n="122" d="100"/>
          <a:sy n="122" d="100"/>
        </p:scale>
        <p:origin x="224" y="24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7" name="Google Shape;13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2" name="Google Shape;22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088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6343650"/>
            <a:ext cx="108585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395287" y="1011953"/>
            <a:ext cx="11401425" cy="1777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 b="1" dirty="0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TAREA 2 : </a:t>
            </a:r>
            <a:r>
              <a:rPr lang="en-US" sz="5250" b="1" dirty="0" err="1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Optimización</a:t>
            </a:r>
            <a:r>
              <a:rPr lang="en-US" sz="5250" b="1" dirty="0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 de </a:t>
            </a:r>
            <a:r>
              <a:rPr lang="en-US" sz="5250" b="1" dirty="0" err="1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Modelos</a:t>
            </a:r>
            <a:endParaRPr lang="en-US" sz="5250" b="1" dirty="0">
              <a:solidFill>
                <a:srgbClr val="F3F0DF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666749" y="3088554"/>
            <a:ext cx="10858500" cy="840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 dirty="0" err="1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Modelado</a:t>
            </a:r>
            <a:r>
              <a:rPr lang="en-US" sz="1950" b="0" i="0" u="none" strike="noStrike" cap="none" dirty="0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 de </a:t>
            </a:r>
            <a:r>
              <a:rPr lang="en-US" sz="1950" b="0" i="0" u="none" strike="noStrike" cap="none" dirty="0" err="1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Regresión</a:t>
            </a:r>
            <a:r>
              <a:rPr lang="en-US" sz="1950" b="0" i="0" u="none" strike="noStrike" cap="none" dirty="0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950" b="0" i="0" u="none" strike="noStrike" cap="none" dirty="0" err="1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Supervisada</a:t>
            </a:r>
            <a:r>
              <a:rPr lang="en-US" sz="1950" b="0" i="0" u="none" strike="noStrike" cap="none" dirty="0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 para la </a:t>
            </a:r>
            <a:r>
              <a:rPr lang="en-US" sz="1950" b="0" i="0" u="none" strike="noStrike" cap="none" dirty="0" err="1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predicción</a:t>
            </a:r>
            <a:r>
              <a:rPr lang="en-US" sz="1950" b="0" i="0" u="none" strike="noStrike" cap="none" dirty="0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 de CLV </a:t>
            </a:r>
          </a:p>
          <a:p>
            <a:pPr marL="0" marR="0" lvl="0" indent="0" algn="ctr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dirty="0">
                <a:solidFill>
                  <a:srgbClr val="CDD6E2"/>
                </a:solidFill>
                <a:latin typeface="DM Sans"/>
                <a:sym typeface="DM Sans"/>
              </a:rPr>
              <a:t>Caso Milenio de Plata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666750" y="6448425"/>
            <a:ext cx="34480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 err="1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Diplomado</a:t>
            </a:r>
            <a:r>
              <a:rPr lang="en-US" sz="1050" b="1" i="0" u="none" strike="noStrike" cap="none" dirty="0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 Ciencia de Datos - Fes </a:t>
            </a:r>
            <a:r>
              <a:rPr lang="en-US" sz="1050" b="1" i="0" u="none" strike="noStrike" cap="none" dirty="0" err="1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Acatlán</a:t>
            </a:r>
            <a:r>
              <a:rPr lang="en-US" sz="1050" b="1" i="0" u="none" strike="noStrike" cap="none" dirty="0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 UNAM G33</a:t>
            </a:r>
            <a:endParaRPr dirty="0"/>
          </a:p>
        </p:txBody>
      </p:sp>
      <p:pic>
        <p:nvPicPr>
          <p:cNvPr id="89" name="Google Shape;89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981450" y="4260679"/>
            <a:ext cx="4229100" cy="193305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 txBox="1"/>
          <p:nvPr/>
        </p:nvSpPr>
        <p:spPr>
          <a:xfrm>
            <a:off x="4267200" y="4443492"/>
            <a:ext cx="3657600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Elaborado</a:t>
            </a:r>
            <a:r>
              <a:rPr lang="en-US" sz="1350" b="0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350" b="0" i="0" u="none" strike="noStrike" cap="none" dirty="0" err="1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por</a:t>
            </a:r>
            <a:r>
              <a:rPr lang="en-US" sz="1350" b="0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 Equipo 3</a:t>
            </a:r>
            <a:endParaRPr dirty="0"/>
          </a:p>
        </p:txBody>
      </p:sp>
      <p:sp>
        <p:nvSpPr>
          <p:cNvPr id="91" name="Google Shape;91;p13"/>
          <p:cNvSpPr txBox="1"/>
          <p:nvPr/>
        </p:nvSpPr>
        <p:spPr>
          <a:xfrm>
            <a:off x="4883875" y="4834025"/>
            <a:ext cx="3040800" cy="1269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-29527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3F0DF"/>
              </a:buClr>
              <a:buSzPts val="1050"/>
              <a:buFont typeface="DM Sans"/>
              <a:buChar char="●"/>
            </a:pPr>
            <a:r>
              <a:rPr lang="en-US" sz="1100" b="0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Pizarro L. A</a:t>
            </a:r>
            <a:r>
              <a:rPr lang="en-US" sz="1100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l</a:t>
            </a:r>
            <a:r>
              <a:rPr lang="en-US" sz="1100" b="0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onso</a:t>
            </a:r>
            <a:endParaRPr sz="1100" b="0" i="0" u="none" strike="noStrike" cap="none" dirty="0">
              <a:solidFill>
                <a:srgbClr val="F3F0D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29527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3F0DF"/>
              </a:buClr>
              <a:buSzPts val="1050"/>
              <a:buFont typeface="DM Sans"/>
              <a:buChar char="●"/>
            </a:pPr>
            <a:r>
              <a:rPr lang="en-US" sz="1100" b="0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 Miguel de la Torre</a:t>
            </a:r>
            <a:r>
              <a:rPr lang="en-US" sz="1100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 Myrna</a:t>
            </a:r>
            <a:endParaRPr sz="1100" dirty="0">
              <a:solidFill>
                <a:srgbClr val="F3F0D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29527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3F0DF"/>
              </a:buClr>
              <a:buSzPts val="1050"/>
              <a:buFont typeface="DM Sans"/>
              <a:buChar char="●"/>
            </a:pPr>
            <a:r>
              <a:rPr lang="en-US" sz="1100" b="0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Canseco L. R</a:t>
            </a:r>
            <a:r>
              <a:rPr lang="en-US" sz="1100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oberto</a:t>
            </a:r>
            <a:endParaRPr sz="1100" b="0" i="0" u="none" strike="noStrike" cap="none" dirty="0">
              <a:solidFill>
                <a:srgbClr val="F3F0D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29527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3F0DF"/>
              </a:buClr>
              <a:buSzPts val="1050"/>
              <a:buFont typeface="DM Sans"/>
              <a:buChar char="●"/>
            </a:pPr>
            <a:r>
              <a:rPr lang="en-US" sz="1100" b="0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 Velazquez P.</a:t>
            </a:r>
            <a:r>
              <a:rPr lang="en-US" sz="1100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 Marlenne</a:t>
            </a:r>
            <a:endParaRPr sz="1100" b="0" i="0" u="none" strike="noStrike" cap="none" dirty="0">
              <a:solidFill>
                <a:srgbClr val="F3F0D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29527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3F0DF"/>
              </a:buClr>
              <a:buSzPts val="1050"/>
              <a:buFont typeface="DM Sans"/>
              <a:buChar char="●"/>
            </a:pPr>
            <a:r>
              <a:rPr lang="en-US" sz="1100" b="0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Díaz S. David</a:t>
            </a:r>
            <a:endParaRPr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38125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6343650"/>
            <a:ext cx="108585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1751535"/>
            <a:ext cx="5238750" cy="2291164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857250" y="776585"/>
            <a:ext cx="1120140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>
                <a:solidFill>
                  <a:srgbClr val="005088"/>
                </a:solidFill>
                <a:latin typeface=""/>
                <a:ea typeface="Merriweather"/>
                <a:cs typeface="Merriweather"/>
                <a:sym typeface="Merriweather"/>
              </a:rPr>
              <a:t>01. OBJETIVO: REGRESIÓN SUPERVISADA</a:t>
            </a:r>
            <a:endParaRPr dirty="0">
              <a:latin typeface="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666750" y="776585"/>
            <a:ext cx="95250" cy="4476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666750" y="6448425"/>
            <a:ext cx="34480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Diplomado Ciencia de Datos - Fes Acatlán UNAM G33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11010900" y="6448425"/>
            <a:ext cx="5143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Página 1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66750" y="1673145"/>
            <a:ext cx="5500687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 err="1">
                <a:solidFill>
                  <a:srgbClr val="005088"/>
                </a:solidFill>
                <a:latin typeface=""/>
                <a:ea typeface="Merriweather"/>
                <a:cs typeface="Merriweather"/>
                <a:sym typeface="Merriweather"/>
              </a:rPr>
              <a:t>Estimación</a:t>
            </a:r>
            <a:r>
              <a:rPr lang="en-US" sz="1950" b="1" i="0" u="none" strike="noStrike" cap="none" dirty="0">
                <a:solidFill>
                  <a:srgbClr val="005088"/>
                </a:solidFill>
                <a:latin typeface=""/>
                <a:ea typeface="Merriweather"/>
                <a:cs typeface="Merriweather"/>
                <a:sym typeface="Merriweather"/>
              </a:rPr>
              <a:t> de Valor Continuo</a:t>
            </a:r>
            <a:endParaRPr dirty="0">
              <a:latin typeface="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666750" y="2168445"/>
            <a:ext cx="5238750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El CLTV se define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como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un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problema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de </a:t>
            </a:r>
            <a:r>
              <a:rPr lang="en-US" sz="1600" b="1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regresión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donde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el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objetivo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es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predecir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una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cifra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monetaria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exacta ($) para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cada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cliente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único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1600" dirty="0"/>
          </a:p>
        </p:txBody>
      </p:sp>
      <p:sp>
        <p:nvSpPr>
          <p:cNvPr id="105" name="Google Shape;105;p14"/>
          <p:cNvSpPr txBox="1"/>
          <p:nvPr/>
        </p:nvSpPr>
        <p:spPr>
          <a:xfrm>
            <a:off x="6486525" y="1914740"/>
            <a:ext cx="508063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Definición</a:t>
            </a:r>
            <a:r>
              <a:rPr lang="en-US" sz="1800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del Target</a:t>
            </a:r>
            <a:endParaRPr sz="2000" dirty="0"/>
          </a:p>
        </p:txBody>
      </p:sp>
      <p:sp>
        <p:nvSpPr>
          <p:cNvPr id="106" name="Google Shape;106;p14"/>
          <p:cNvSpPr txBox="1"/>
          <p:nvPr/>
        </p:nvSpPr>
        <p:spPr>
          <a:xfrm>
            <a:off x="6486525" y="2390246"/>
            <a:ext cx="4838700" cy="921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Se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calcula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como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el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gasto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neto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(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excluyendo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devoluciones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)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que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un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cliente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genera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tras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un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periodo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de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observación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determinado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 </a:t>
            </a:r>
            <a:endParaRPr dirty="0"/>
          </a:p>
        </p:txBody>
      </p:sp>
      <p:sp>
        <p:nvSpPr>
          <p:cNvPr id="108" name="Google Shape;108;p14"/>
          <p:cNvSpPr txBox="1"/>
          <p:nvPr/>
        </p:nvSpPr>
        <p:spPr>
          <a:xfrm>
            <a:off x="666750" y="3381367"/>
            <a:ext cx="4857750" cy="1508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b="1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Universo:</a:t>
            </a:r>
            <a:r>
              <a:rPr lang="en-US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647,635 </a:t>
            </a:r>
            <a:r>
              <a:rPr lang="en-US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clientes</a:t>
            </a:r>
            <a:r>
              <a:rPr lang="en-US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históricos</a:t>
            </a:r>
            <a:r>
              <a:rPr lang="en-US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procesados</a:t>
            </a:r>
            <a:r>
              <a:rPr lang="en-US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lang="en-US" b="1" i="0" u="none" strike="noStrike" cap="none" dirty="0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Variable </a:t>
            </a:r>
            <a:r>
              <a:rPr lang="en-US" b="1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Objetivo</a:t>
            </a:r>
            <a:r>
              <a:rPr lang="en-US" b="1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lang="en-US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Gasto </a:t>
            </a:r>
            <a:r>
              <a:rPr lang="en-US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neto</a:t>
            </a:r>
            <a:r>
              <a:rPr lang="en-US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futuro</a:t>
            </a:r>
            <a:r>
              <a:rPr lang="en-US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acumulado</a:t>
            </a:r>
            <a:r>
              <a:rPr lang="en-US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(Target).</a:t>
            </a: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Desafío</a:t>
            </a:r>
            <a:r>
              <a:rPr lang="en-US" b="1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b="1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Estadístico</a:t>
            </a:r>
            <a:r>
              <a:rPr lang="en-US" b="1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lang="en-US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Manejo</a:t>
            </a:r>
            <a:r>
              <a:rPr lang="en-US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de </a:t>
            </a:r>
            <a:r>
              <a:rPr lang="en-US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una</a:t>
            </a:r>
            <a:r>
              <a:rPr lang="en-US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distribución</a:t>
            </a:r>
            <a:r>
              <a:rPr lang="en-US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con un 61.5% de </a:t>
            </a:r>
            <a:r>
              <a:rPr lang="en-US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inactividad</a:t>
            </a:r>
            <a:r>
              <a:rPr lang="en-US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(ceros).</a:t>
            </a:r>
            <a:endParaRPr lang="en-US" dirty="0"/>
          </a:p>
        </p:txBody>
      </p:sp>
      <p:sp>
        <p:nvSpPr>
          <p:cNvPr id="110" name="Google Shape;110;p14"/>
          <p:cNvSpPr txBox="1"/>
          <p:nvPr/>
        </p:nvSpPr>
        <p:spPr>
          <a:xfrm>
            <a:off x="1047750" y="3436013"/>
            <a:ext cx="4857750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2" name="Google Shape;112;p14"/>
          <p:cNvSpPr txBox="1"/>
          <p:nvPr/>
        </p:nvSpPr>
        <p:spPr>
          <a:xfrm>
            <a:off x="1047750" y="4105274"/>
            <a:ext cx="4857750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35FC30D-C8C7-B4AB-FF96-4A03367044DA}"/>
              </a:ext>
            </a:extLst>
          </p:cNvPr>
          <p:cNvSpPr/>
          <p:nvPr/>
        </p:nvSpPr>
        <p:spPr>
          <a:xfrm>
            <a:off x="1690255" y="5010178"/>
            <a:ext cx="8613043" cy="1193109"/>
          </a:xfrm>
          <a:prstGeom prst="roundRect">
            <a:avLst/>
          </a:prstGeom>
          <a:solidFill>
            <a:schemeClr val="bg1"/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X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066E1B-9E77-555D-C22E-0F07FC7D74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88702" y="5077325"/>
            <a:ext cx="8033596" cy="10437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40184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6343650"/>
            <a:ext cx="108585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750" y="1612653"/>
            <a:ext cx="5238750" cy="3756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44592" y="1645581"/>
            <a:ext cx="5238750" cy="2737233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857250" y="776585"/>
            <a:ext cx="1120140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>
                <a:solidFill>
                  <a:srgbClr val="005088"/>
                </a:solidFill>
                <a:latin typeface=""/>
                <a:ea typeface="Merriweather"/>
                <a:cs typeface="Merriweather"/>
                <a:sym typeface="Merriweather"/>
              </a:rPr>
              <a:t>02. VENTANA DE PREDICCIÓN: 3 MESES</a:t>
            </a:r>
            <a:endParaRPr dirty="0">
              <a:latin typeface=""/>
            </a:endParaRPr>
          </a:p>
        </p:txBody>
      </p:sp>
      <p:sp>
        <p:nvSpPr>
          <p:cNvPr id="122" name="Google Shape;122;p15"/>
          <p:cNvSpPr/>
          <p:nvPr/>
        </p:nvSpPr>
        <p:spPr>
          <a:xfrm>
            <a:off x="666750" y="776585"/>
            <a:ext cx="95250" cy="4476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666750" y="6448425"/>
            <a:ext cx="34480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Diplomado Ciencia de Datos - Fes Acatlán UNAM G33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10982325" y="6448425"/>
            <a:ext cx="54292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Página 2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866775" y="1799581"/>
            <a:ext cx="5080635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 err="1">
                <a:solidFill>
                  <a:srgbClr val="005088"/>
                </a:solidFill>
                <a:latin typeface=""/>
                <a:ea typeface="Merriweather"/>
                <a:cs typeface="Sana" pitchFamily="2" charset="-78"/>
                <a:sym typeface="Merriweather"/>
              </a:rPr>
              <a:t>Lógica</a:t>
            </a:r>
            <a:r>
              <a:rPr lang="en-US" sz="1950" b="1" i="0" u="none" strike="noStrike" cap="none" dirty="0">
                <a:solidFill>
                  <a:srgbClr val="005088"/>
                </a:solidFill>
                <a:latin typeface=""/>
                <a:ea typeface="Merriweather"/>
                <a:cs typeface="Sana" pitchFamily="2" charset="-78"/>
                <a:sym typeface="Merriweather"/>
              </a:rPr>
              <a:t> de </a:t>
            </a:r>
            <a:r>
              <a:rPr lang="en-US" sz="1950" b="1" i="0" u="none" strike="noStrike" cap="none" dirty="0" err="1">
                <a:solidFill>
                  <a:srgbClr val="005088"/>
                </a:solidFill>
                <a:latin typeface=""/>
                <a:ea typeface="Merriweather"/>
                <a:cs typeface="Sana" pitchFamily="2" charset="-78"/>
                <a:sym typeface="Merriweather"/>
              </a:rPr>
              <a:t>Negocio</a:t>
            </a:r>
            <a:r>
              <a:rPr lang="en-US" sz="1950" b="1" i="0" u="none" strike="noStrike" cap="none" dirty="0">
                <a:solidFill>
                  <a:srgbClr val="005088"/>
                </a:solidFill>
                <a:latin typeface=""/>
                <a:ea typeface="Merriweather"/>
                <a:cs typeface="Sana" pitchFamily="2" charset="-78"/>
                <a:sym typeface="Merriweather"/>
              </a:rPr>
              <a:t> (90 días)</a:t>
            </a:r>
            <a:endParaRPr dirty="0">
              <a:latin typeface=""/>
              <a:cs typeface="Sana" pitchFamily="2" charset="-78"/>
            </a:endParaRPr>
          </a:p>
        </p:txBody>
      </p:sp>
      <p:sp>
        <p:nvSpPr>
          <p:cNvPr id="126" name="Google Shape;126;p15"/>
          <p:cNvSpPr txBox="1"/>
          <p:nvPr/>
        </p:nvSpPr>
        <p:spPr>
          <a:xfrm>
            <a:off x="866775" y="2287198"/>
            <a:ext cx="4838700" cy="506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La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ventana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de 3 meses se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seleccionó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por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dos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razones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estratégicas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endParaRPr dirty="0"/>
          </a:p>
        </p:txBody>
      </p:sp>
      <p:sp>
        <p:nvSpPr>
          <p:cNvPr id="127" name="Google Shape;127;p15"/>
          <p:cNvSpPr txBox="1"/>
          <p:nvPr/>
        </p:nvSpPr>
        <p:spPr>
          <a:xfrm>
            <a:off x="6429375" y="1673892"/>
            <a:ext cx="523875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 err="1">
                <a:solidFill>
                  <a:schemeClr val="bg2"/>
                </a:solidFill>
                <a:latin typeface="DM Sans"/>
                <a:ea typeface="DM Sans"/>
                <a:cs typeface="DM Sans"/>
                <a:sym typeface="DM Sans"/>
              </a:rPr>
              <a:t>Configuración</a:t>
            </a:r>
            <a:r>
              <a:rPr lang="en-US" sz="1600" b="1" i="0" u="none" strike="noStrike" cap="none" dirty="0">
                <a:solidFill>
                  <a:schemeClr val="bg2"/>
                </a:solidFill>
                <a:latin typeface="DM Sans"/>
                <a:ea typeface="DM Sans"/>
                <a:cs typeface="DM Sans"/>
                <a:sym typeface="DM Sans"/>
              </a:rPr>
              <a:t> del Pipeline:</a:t>
            </a:r>
            <a:endParaRPr sz="1600" dirty="0">
              <a:solidFill>
                <a:schemeClr val="bg2"/>
              </a:solidFill>
            </a:endParaRPr>
          </a:p>
        </p:txBody>
      </p:sp>
      <p:sp>
        <p:nvSpPr>
          <p:cNvPr id="129" name="Google Shape;129;p15"/>
          <p:cNvSpPr txBox="1"/>
          <p:nvPr/>
        </p:nvSpPr>
        <p:spPr>
          <a:xfrm>
            <a:off x="841194" y="3003333"/>
            <a:ext cx="4838700" cy="2450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25" b="1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Ciclo de </a:t>
            </a:r>
            <a:r>
              <a:rPr lang="en-US" sz="1425" b="1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Temporada</a:t>
            </a:r>
            <a:r>
              <a:rPr lang="en-US" sz="1425" b="1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Alineación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con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el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recambio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de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colecciones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en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Retail,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capturando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el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comportamiento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de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compra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completo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de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una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temporada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Gestión</a:t>
            </a:r>
            <a:r>
              <a:rPr lang="en-US" b="1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de Churn:</a:t>
            </a:r>
            <a:r>
              <a:rPr lang="en-US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Es </a:t>
            </a:r>
            <a:r>
              <a:rPr lang="en-US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el</a:t>
            </a:r>
            <a:r>
              <a:rPr lang="en-US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periodo</a:t>
            </a:r>
            <a:r>
              <a:rPr lang="en-US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óptimo</a:t>
            </a:r>
            <a:r>
              <a:rPr lang="en-US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para la </a:t>
            </a:r>
            <a:r>
              <a:rPr lang="en-US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intervención</a:t>
            </a:r>
            <a:r>
              <a:rPr lang="en-US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de Marketing. Menos </a:t>
            </a:r>
            <a:r>
              <a:rPr lang="en-US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tiempo</a:t>
            </a:r>
            <a:r>
              <a:rPr lang="en-US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es </a:t>
            </a:r>
            <a:r>
              <a:rPr lang="en-US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ruido</a:t>
            </a:r>
            <a:r>
              <a:rPr lang="en-US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; </a:t>
            </a:r>
            <a:r>
              <a:rPr lang="en-US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más</a:t>
            </a:r>
            <a:r>
              <a:rPr lang="en-US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tiempo</a:t>
            </a:r>
            <a:r>
              <a:rPr lang="en-US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es </a:t>
            </a:r>
            <a:r>
              <a:rPr lang="en-US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reactivo</a:t>
            </a:r>
            <a:r>
              <a:rPr lang="en-US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lang="en-US" dirty="0"/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2" name="Google Shape;132;p15"/>
          <p:cNvSpPr txBox="1"/>
          <p:nvPr/>
        </p:nvSpPr>
        <p:spPr>
          <a:xfrm>
            <a:off x="6496050" y="2506038"/>
            <a:ext cx="4819650" cy="759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8 Meses de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Perfilamiento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 b="1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3 Meses de </a:t>
            </a:r>
            <a:r>
              <a:rPr lang="en-US" sz="1425" b="1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Predicción</a:t>
            </a:r>
            <a:endParaRPr dirty="0"/>
          </a:p>
        </p:txBody>
      </p:sp>
      <p:sp>
        <p:nvSpPr>
          <p:cNvPr id="133" name="Google Shape;133;p15"/>
          <p:cNvSpPr txBox="1"/>
          <p:nvPr/>
        </p:nvSpPr>
        <p:spPr>
          <a:xfrm>
            <a:off x="6531156" y="3660075"/>
            <a:ext cx="4819650" cy="186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(</a:t>
            </a:r>
            <a:r>
              <a:rPr lang="en-US" sz="105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Relación</a:t>
            </a:r>
            <a:r>
              <a:rPr lang="en-US" sz="105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2.5 a 1 para </a:t>
            </a:r>
            <a:r>
              <a:rPr lang="en-US" sz="105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estabilidad</a:t>
            </a:r>
            <a:r>
              <a:rPr lang="en-US" sz="105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de </a:t>
            </a:r>
            <a:r>
              <a:rPr lang="en-US" sz="105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señal</a:t>
            </a:r>
            <a:r>
              <a:rPr lang="en-US" sz="105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)</a:t>
            </a:r>
            <a:endParaRPr dirty="0"/>
          </a:p>
        </p:txBody>
      </p:sp>
      <p:pic>
        <p:nvPicPr>
          <p:cNvPr id="134" name="Google Shape;134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839200" y="3388816"/>
            <a:ext cx="13335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6343650"/>
            <a:ext cx="108585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48239" y="1739504"/>
            <a:ext cx="5358539" cy="4071344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6"/>
          <p:cNvSpPr txBox="1"/>
          <p:nvPr/>
        </p:nvSpPr>
        <p:spPr>
          <a:xfrm>
            <a:off x="857250" y="776585"/>
            <a:ext cx="1120140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>
                <a:solidFill>
                  <a:srgbClr val="005088"/>
                </a:solidFill>
                <a:latin typeface=""/>
                <a:ea typeface="Merriweather"/>
                <a:cs typeface="Merriweather"/>
                <a:sym typeface="Merriweather"/>
              </a:rPr>
              <a:t>03. PIPELINE ETL Y LIMPIEZA</a:t>
            </a:r>
            <a:endParaRPr dirty="0">
              <a:latin typeface="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666750" y="776585"/>
            <a:ext cx="95250" cy="4476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 txBox="1"/>
          <p:nvPr/>
        </p:nvSpPr>
        <p:spPr>
          <a:xfrm>
            <a:off x="666750" y="6448425"/>
            <a:ext cx="34480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Diplomado Ciencia de Datos - Fes Acatlán UNAM G33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10982325" y="6448425"/>
            <a:ext cx="54292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Página 3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762000" y="1739503"/>
            <a:ext cx="5500687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 err="1">
                <a:solidFill>
                  <a:srgbClr val="005088"/>
                </a:solidFill>
                <a:latin typeface=""/>
                <a:ea typeface="Merriweather"/>
                <a:cs typeface="Merriweather"/>
                <a:sym typeface="Merriweather"/>
              </a:rPr>
              <a:t>Depuración</a:t>
            </a:r>
            <a:r>
              <a:rPr lang="en-US" sz="1950" b="1" i="0" u="none" strike="noStrike" cap="none" dirty="0">
                <a:solidFill>
                  <a:srgbClr val="005088"/>
                </a:solidFill>
                <a:latin typeface=""/>
                <a:ea typeface="Merriweather"/>
                <a:cs typeface="Merriweather"/>
                <a:sym typeface="Merriweather"/>
              </a:rPr>
              <a:t> y Calidad</a:t>
            </a:r>
            <a:endParaRPr dirty="0">
              <a:latin typeface=""/>
            </a:endParaRPr>
          </a:p>
        </p:txBody>
      </p:sp>
      <p:sp>
        <p:nvSpPr>
          <p:cNvPr id="147" name="Google Shape;147;p16"/>
          <p:cNvSpPr txBox="1"/>
          <p:nvPr/>
        </p:nvSpPr>
        <p:spPr>
          <a:xfrm>
            <a:off x="762000" y="2234803"/>
            <a:ext cx="5238750" cy="253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Procesamos 3.92M de transacciones bajo criterios estrictos: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705139" y="2765864"/>
            <a:ext cx="4857750" cy="2116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25" b="1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Nulos</a:t>
            </a:r>
            <a:r>
              <a:rPr lang="en-US" sz="1425" b="1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Imputación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de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categorías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"NO ESPECIFICADO".</a:t>
            </a: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Negativos</a:t>
            </a:r>
            <a:r>
              <a:rPr lang="en-US" b="1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lang="en-US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Separación</a:t>
            </a:r>
            <a:r>
              <a:rPr lang="en-US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de </a:t>
            </a:r>
            <a:r>
              <a:rPr lang="en-US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devoluciones</a:t>
            </a:r>
            <a:r>
              <a:rPr lang="en-US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para </a:t>
            </a:r>
            <a:r>
              <a:rPr lang="en-US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evitar</a:t>
            </a:r>
            <a:r>
              <a:rPr lang="en-US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sesgo</a:t>
            </a:r>
            <a:r>
              <a:rPr lang="en-US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en</a:t>
            </a:r>
            <a:r>
              <a:rPr lang="en-US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el</a:t>
            </a:r>
            <a:r>
              <a:rPr lang="en-US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gasto</a:t>
            </a:r>
            <a:r>
              <a:rPr lang="en-US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neto</a:t>
            </a:r>
            <a:r>
              <a:rPr lang="en-US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(no </a:t>
            </a:r>
            <a:r>
              <a:rPr lang="en-US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fueron</a:t>
            </a:r>
            <a:r>
              <a:rPr lang="en-US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considerados</a:t>
            </a:r>
            <a:r>
              <a:rPr lang="en-US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).</a:t>
            </a: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Validación</a:t>
            </a:r>
            <a:r>
              <a:rPr lang="en-US" b="1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: </a:t>
            </a:r>
            <a:r>
              <a:rPr lang="en-US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Split </a:t>
            </a:r>
            <a:r>
              <a:rPr lang="en-US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estratificado</a:t>
            </a:r>
            <a:r>
              <a:rPr lang="en-US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por</a:t>
            </a:r>
            <a:r>
              <a:rPr lang="en-US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quintiles.</a:t>
            </a: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Clipping:</a:t>
            </a:r>
            <a:r>
              <a:rPr lang="en-US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Aplicación</a:t>
            </a:r>
            <a:r>
              <a:rPr lang="en-US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dinámica</a:t>
            </a:r>
            <a:r>
              <a:rPr lang="en-US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al </a:t>
            </a:r>
            <a:r>
              <a:rPr lang="en-US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Percentil</a:t>
            </a:r>
            <a:r>
              <a:rPr lang="en-US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99 ($47,735) </a:t>
            </a:r>
            <a:r>
              <a:rPr lang="en-US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basado</a:t>
            </a:r>
            <a:r>
              <a:rPr lang="en-US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solo </a:t>
            </a:r>
            <a:r>
              <a:rPr lang="en-US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en</a:t>
            </a:r>
            <a:r>
              <a:rPr lang="en-US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el</a:t>
            </a:r>
            <a:r>
              <a:rPr lang="en-US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set de Train.</a:t>
            </a:r>
            <a:endParaRPr lang="en-US" dirty="0"/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4B0CD55-56C9-646F-8C70-C62AEE3769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8071" y="1865666"/>
            <a:ext cx="5281763" cy="381901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0907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6343650"/>
            <a:ext cx="108585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750" y="2187116"/>
            <a:ext cx="3492400" cy="1692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349650" y="2187116"/>
            <a:ext cx="3492549" cy="1692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32700" y="2187116"/>
            <a:ext cx="3492400" cy="1692771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 txBox="1"/>
          <p:nvPr/>
        </p:nvSpPr>
        <p:spPr>
          <a:xfrm>
            <a:off x="857250" y="776585"/>
            <a:ext cx="1120140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>
                <a:solidFill>
                  <a:srgbClr val="005088"/>
                </a:solidFill>
                <a:latin typeface=""/>
                <a:ea typeface="Merriweather"/>
                <a:cs typeface="Merriweather"/>
                <a:sym typeface="Merriweather"/>
              </a:rPr>
              <a:t>04. PERFILAMIENTO DEL CLIENTE</a:t>
            </a:r>
            <a:endParaRPr dirty="0">
              <a:latin typeface=""/>
            </a:endParaRPr>
          </a:p>
        </p:txBody>
      </p:sp>
      <p:sp>
        <p:nvSpPr>
          <p:cNvPr id="166" name="Google Shape;166;p17"/>
          <p:cNvSpPr/>
          <p:nvPr/>
        </p:nvSpPr>
        <p:spPr>
          <a:xfrm>
            <a:off x="666750" y="776585"/>
            <a:ext cx="95250" cy="4476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7"/>
          <p:cNvSpPr txBox="1"/>
          <p:nvPr/>
        </p:nvSpPr>
        <p:spPr>
          <a:xfrm>
            <a:off x="666750" y="1562336"/>
            <a:ext cx="10858500" cy="253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Construimos 32 variables para capturar la </a:t>
            </a:r>
            <a:r>
              <a:rPr lang="en-US" sz="1425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heterogeneidad</a:t>
            </a:r>
            <a:r>
              <a:rPr lang="en-US" sz="142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del comportamiento: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666750" y="4165637"/>
            <a:ext cx="10858500" cy="61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1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*Nota: </a:t>
            </a:r>
            <a:r>
              <a:rPr lang="en-US" sz="1425" b="0" i="1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Incluir</a:t>
            </a:r>
            <a:r>
              <a:rPr lang="en-US" sz="1425" b="0" i="1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Mediana y </a:t>
            </a:r>
            <a:r>
              <a:rPr lang="en-US" sz="1425" b="0" i="1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Desv</a:t>
            </a:r>
            <a:r>
              <a:rPr lang="en-US" sz="1425" b="0" i="1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 </a:t>
            </a:r>
            <a:r>
              <a:rPr lang="en-US" sz="1425" b="0" i="1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Estándar</a:t>
            </a:r>
            <a:r>
              <a:rPr lang="en-US" sz="1425" b="0" i="1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es vital para </a:t>
            </a:r>
            <a:r>
              <a:rPr lang="en-US" sz="1425" b="0" i="1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diferenciar</a:t>
            </a:r>
            <a:r>
              <a:rPr lang="en-US" sz="1425" b="0" i="1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425" b="0" i="1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clientes</a:t>
            </a:r>
            <a:r>
              <a:rPr lang="en-US" sz="1425" b="0" i="1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425" b="0" i="1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estables</a:t>
            </a:r>
            <a:r>
              <a:rPr lang="en-US" sz="1425" b="0" i="1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de </a:t>
            </a:r>
            <a:r>
              <a:rPr lang="en-US" sz="1425" b="0" i="1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clientes</a:t>
            </a:r>
            <a:r>
              <a:rPr lang="en-US" sz="1425" b="0" i="1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de </a:t>
            </a:r>
            <a:r>
              <a:rPr lang="en-US" sz="1425" b="0" i="1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picos</a:t>
            </a:r>
            <a:r>
              <a:rPr lang="en-US" sz="1425" b="0" i="1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425" b="0" i="1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aislados</a:t>
            </a:r>
            <a:r>
              <a:rPr lang="en-US" sz="1425" b="0" i="1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 La inclusion de la </a:t>
            </a:r>
            <a:r>
              <a:rPr lang="en-US" sz="1425" b="0" i="1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varianza</a:t>
            </a:r>
            <a:r>
              <a:rPr lang="en-US" sz="1425" b="0" i="1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(</a:t>
            </a:r>
            <a:r>
              <a:rPr lang="en-US" sz="1425" b="0" i="1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Ritno</a:t>
            </a:r>
            <a:r>
              <a:rPr lang="en-US" sz="1425" b="0" i="1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) </a:t>
            </a:r>
            <a:r>
              <a:rPr lang="en-US" sz="1425" b="0" i="1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permite</a:t>
            </a:r>
            <a:r>
              <a:rPr lang="en-US" sz="1425" b="0" i="1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al </a:t>
            </a:r>
            <a:r>
              <a:rPr lang="en-US" sz="1425" b="0" i="1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modelo</a:t>
            </a:r>
            <a:r>
              <a:rPr lang="en-US" sz="1425" b="0" i="1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425" b="0" i="1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discriminar</a:t>
            </a:r>
            <a:r>
              <a:rPr lang="en-US" sz="1425" b="0" i="1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entre </a:t>
            </a:r>
            <a:r>
              <a:rPr lang="en-US" sz="1425" b="0" i="1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clientes</a:t>
            </a:r>
            <a:r>
              <a:rPr lang="en-US" sz="1425" b="0" i="1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con </a:t>
            </a:r>
            <a:r>
              <a:rPr lang="en-US" sz="1425" b="0" i="1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hábitos</a:t>
            </a:r>
            <a:r>
              <a:rPr lang="en-US" sz="1425" b="0" i="1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425" b="0" i="1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rítmicos</a:t>
            </a:r>
            <a:r>
              <a:rPr lang="en-US" sz="1425" b="0" i="1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y </a:t>
            </a:r>
            <a:r>
              <a:rPr lang="en-US" sz="1425" b="0" i="1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compradores</a:t>
            </a:r>
            <a:r>
              <a:rPr lang="en-US" sz="1425" b="0" i="1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425" b="0" i="1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esporádicos</a:t>
            </a:r>
            <a:r>
              <a:rPr lang="en-US" sz="1425" b="0" i="1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dirty="0"/>
          </a:p>
        </p:txBody>
      </p:sp>
      <p:sp>
        <p:nvSpPr>
          <p:cNvPr id="169" name="Google Shape;169;p17"/>
          <p:cNvSpPr txBox="1"/>
          <p:nvPr/>
        </p:nvSpPr>
        <p:spPr>
          <a:xfrm>
            <a:off x="666750" y="6448425"/>
            <a:ext cx="34480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Diplomado Ciencia de Datos - Fes Acatlán UNAM G33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10972800" y="6448425"/>
            <a:ext cx="5524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Página 4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866775" y="2284905"/>
            <a:ext cx="3246968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 err="1">
                <a:solidFill>
                  <a:schemeClr val="bg2"/>
                </a:solidFill>
                <a:latin typeface="DM Sans"/>
                <a:ea typeface="DM Sans"/>
                <a:cs typeface="DM Sans"/>
                <a:sym typeface="DM Sans"/>
              </a:rPr>
              <a:t>Temporales</a:t>
            </a:r>
            <a:endParaRPr sz="1800" dirty="0">
              <a:solidFill>
                <a:schemeClr val="bg2"/>
              </a:solidFill>
            </a:endParaRPr>
          </a:p>
        </p:txBody>
      </p:sp>
      <p:sp>
        <p:nvSpPr>
          <p:cNvPr id="172" name="Google Shape;172;p17"/>
          <p:cNvSpPr txBox="1"/>
          <p:nvPr/>
        </p:nvSpPr>
        <p:spPr>
          <a:xfrm>
            <a:off x="866775" y="2789078"/>
            <a:ext cx="3092350" cy="506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Recencia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Antigüedad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real y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tiempos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entre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compras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(Media/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Varianza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).</a:t>
            </a:r>
            <a:endParaRPr dirty="0"/>
          </a:p>
        </p:txBody>
      </p:sp>
      <p:sp>
        <p:nvSpPr>
          <p:cNvPr id="173" name="Google Shape;173;p17"/>
          <p:cNvSpPr txBox="1"/>
          <p:nvPr/>
        </p:nvSpPr>
        <p:spPr>
          <a:xfrm>
            <a:off x="4549675" y="2284905"/>
            <a:ext cx="3247124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chemeClr val="bg2"/>
                </a:solidFill>
                <a:latin typeface="DM Sans"/>
                <a:ea typeface="DM Sans"/>
                <a:cs typeface="DM Sans"/>
                <a:sym typeface="DM Sans"/>
              </a:rPr>
              <a:t>Ritmo</a:t>
            </a:r>
            <a:endParaRPr sz="1800" dirty="0">
              <a:solidFill>
                <a:schemeClr val="bg2"/>
              </a:solidFill>
            </a:endParaRPr>
          </a:p>
        </p:txBody>
      </p:sp>
      <p:sp>
        <p:nvSpPr>
          <p:cNvPr id="174" name="Google Shape;174;p17"/>
          <p:cNvSpPr txBox="1"/>
          <p:nvPr/>
        </p:nvSpPr>
        <p:spPr>
          <a:xfrm>
            <a:off x="4549675" y="2789078"/>
            <a:ext cx="3092499" cy="921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Media y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Varianza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del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tiempo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entre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compras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(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conocer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la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dinámica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de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compra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del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cliente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)</a:t>
            </a:r>
            <a:endParaRPr dirty="0"/>
          </a:p>
        </p:txBody>
      </p:sp>
      <p:sp>
        <p:nvSpPr>
          <p:cNvPr id="175" name="Google Shape;175;p17"/>
          <p:cNvSpPr txBox="1"/>
          <p:nvPr/>
        </p:nvSpPr>
        <p:spPr>
          <a:xfrm>
            <a:off x="8232725" y="2284905"/>
            <a:ext cx="3246968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 err="1">
                <a:solidFill>
                  <a:schemeClr val="bg2"/>
                </a:solidFill>
                <a:latin typeface="DM Sans"/>
                <a:ea typeface="DM Sans"/>
                <a:cs typeface="DM Sans"/>
                <a:sym typeface="DM Sans"/>
              </a:rPr>
              <a:t>Afinidad</a:t>
            </a:r>
            <a:endParaRPr sz="1800" dirty="0">
              <a:solidFill>
                <a:schemeClr val="bg2"/>
              </a:solidFill>
            </a:endParaRPr>
          </a:p>
        </p:txBody>
      </p:sp>
      <p:sp>
        <p:nvSpPr>
          <p:cNvPr id="176" name="Google Shape;176;p17"/>
          <p:cNvSpPr txBox="1"/>
          <p:nvPr/>
        </p:nvSpPr>
        <p:spPr>
          <a:xfrm>
            <a:off x="8232725" y="2789078"/>
            <a:ext cx="3092350" cy="506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Conteo de SKUs únicos y gasto por divisiones (Damas, Lujo, etc).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6343650"/>
            <a:ext cx="108585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72245" y="1542473"/>
            <a:ext cx="6186405" cy="395121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8"/>
          <p:cNvSpPr txBox="1"/>
          <p:nvPr/>
        </p:nvSpPr>
        <p:spPr>
          <a:xfrm>
            <a:off x="857250" y="776585"/>
            <a:ext cx="1120140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>
                <a:solidFill>
                  <a:srgbClr val="005088"/>
                </a:solidFill>
                <a:latin typeface=""/>
                <a:ea typeface="Merriweather"/>
                <a:cs typeface="Merriweather"/>
                <a:sym typeface="Merriweather"/>
              </a:rPr>
              <a:t>05. MODELO 1: LIGHTGBM</a:t>
            </a:r>
            <a:endParaRPr dirty="0">
              <a:latin typeface=""/>
            </a:endParaRPr>
          </a:p>
        </p:txBody>
      </p:sp>
      <p:sp>
        <p:nvSpPr>
          <p:cNvPr id="185" name="Google Shape;185;p18"/>
          <p:cNvSpPr/>
          <p:nvPr/>
        </p:nvSpPr>
        <p:spPr>
          <a:xfrm>
            <a:off x="666750" y="776585"/>
            <a:ext cx="95250" cy="4476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8"/>
          <p:cNvSpPr txBox="1"/>
          <p:nvPr/>
        </p:nvSpPr>
        <p:spPr>
          <a:xfrm>
            <a:off x="666750" y="6448425"/>
            <a:ext cx="34480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Diplomado Ciencia de Datos - Fes Acatlán UNAM G33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10972800" y="6448425"/>
            <a:ext cx="5524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Página 5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666750" y="1621927"/>
            <a:ext cx="5500687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 err="1">
                <a:solidFill>
                  <a:srgbClr val="005088"/>
                </a:solidFill>
                <a:latin typeface=""/>
                <a:ea typeface="Merriweather"/>
                <a:cs typeface="Merriweather"/>
                <a:sym typeface="Merriweather"/>
              </a:rPr>
              <a:t>Manejo</a:t>
            </a:r>
            <a:r>
              <a:rPr lang="en-US" sz="1950" b="1" i="0" u="none" strike="noStrike" cap="none" dirty="0">
                <a:solidFill>
                  <a:srgbClr val="005088"/>
                </a:solidFill>
                <a:latin typeface=""/>
                <a:ea typeface="Merriweather"/>
                <a:cs typeface="Merriweather"/>
                <a:sym typeface="Merriweather"/>
              </a:rPr>
              <a:t> de Ceros y Colas </a:t>
            </a:r>
            <a:r>
              <a:rPr lang="en-US" sz="1950" b="1" i="0" u="none" strike="noStrike" cap="none" dirty="0" err="1">
                <a:solidFill>
                  <a:srgbClr val="005088"/>
                </a:solidFill>
                <a:latin typeface=""/>
                <a:ea typeface="Merriweather"/>
                <a:cs typeface="Merriweather"/>
                <a:sym typeface="Merriweather"/>
              </a:rPr>
              <a:t>Largas</a:t>
            </a:r>
            <a:endParaRPr dirty="0">
              <a:latin typeface=""/>
            </a:endParaRPr>
          </a:p>
        </p:txBody>
      </p:sp>
      <p:sp>
        <p:nvSpPr>
          <p:cNvPr id="189" name="Google Shape;189;p18"/>
          <p:cNvSpPr txBox="1"/>
          <p:nvPr/>
        </p:nvSpPr>
        <p:spPr>
          <a:xfrm>
            <a:off x="666750" y="2117227"/>
            <a:ext cx="4795838" cy="1535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MX" sz="1425" dirty="0">
                <a:solidFill>
                  <a:srgbClr val="334155"/>
                </a:solidFill>
                <a:latin typeface="DM Sans"/>
              </a:rPr>
              <a:t>Usamos LightGBM porque es rápido y, gracias a su distribución Tweedie, es el mejor modelo para entender tanto a los clientes que no compran nada (tenemos muchos ceros) como a los que gastan cantidades muy distintas (cola larga). </a:t>
            </a:r>
            <a:endParaRPr sz="1425" dirty="0">
              <a:solidFill>
                <a:srgbClr val="334155"/>
              </a:solidFill>
              <a:latin typeface="DM Sans"/>
            </a:endParaRPr>
          </a:p>
        </p:txBody>
      </p:sp>
      <p:sp>
        <p:nvSpPr>
          <p:cNvPr id="190" name="Google Shape;190;p18"/>
          <p:cNvSpPr txBox="1"/>
          <p:nvPr/>
        </p:nvSpPr>
        <p:spPr>
          <a:xfrm>
            <a:off x="666750" y="3762195"/>
            <a:ext cx="523875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 err="1">
                <a:solidFill>
                  <a:schemeClr val="bg2"/>
                </a:solidFill>
                <a:latin typeface="DM Sans"/>
                <a:ea typeface="DM Sans"/>
                <a:cs typeface="DM Sans"/>
                <a:sym typeface="DM Sans"/>
              </a:rPr>
              <a:t>Configuración</a:t>
            </a:r>
            <a:r>
              <a:rPr lang="en-US" sz="1600" b="1" i="0" u="none" strike="noStrike" cap="none" dirty="0">
                <a:solidFill>
                  <a:schemeClr val="bg2"/>
                </a:solidFill>
                <a:latin typeface="DM Sans"/>
                <a:ea typeface="DM Sans"/>
                <a:cs typeface="DM Sans"/>
                <a:sym typeface="DM Sans"/>
              </a:rPr>
              <a:t> de </a:t>
            </a:r>
            <a:r>
              <a:rPr lang="en-US" sz="1600" b="1" i="0" u="none" strike="noStrike" cap="none" dirty="0" err="1">
                <a:solidFill>
                  <a:schemeClr val="bg2"/>
                </a:solidFill>
                <a:latin typeface="DM Sans"/>
                <a:ea typeface="DM Sans"/>
                <a:cs typeface="DM Sans"/>
                <a:sym typeface="DM Sans"/>
              </a:rPr>
              <a:t>LightGBM</a:t>
            </a:r>
            <a:r>
              <a:rPr lang="en-US" sz="1600" b="1" i="0" u="none" strike="noStrike" cap="none" dirty="0">
                <a:solidFill>
                  <a:schemeClr val="bg2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endParaRPr sz="1600" dirty="0">
              <a:solidFill>
                <a:schemeClr val="bg2"/>
              </a:solidFill>
            </a:endParaRPr>
          </a:p>
        </p:txBody>
      </p:sp>
      <p:sp>
        <p:nvSpPr>
          <p:cNvPr id="194" name="Google Shape;194;p18"/>
          <p:cNvSpPr txBox="1"/>
          <p:nvPr/>
        </p:nvSpPr>
        <p:spPr>
          <a:xfrm>
            <a:off x="604838" y="4126973"/>
            <a:ext cx="4857750" cy="1513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2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Tweedie Variance Power = 1.5.</a:t>
            </a: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Early Stopping de 20 </a:t>
            </a:r>
            <a:r>
              <a:rPr lang="en-US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rondas</a:t>
            </a:r>
            <a:r>
              <a:rPr lang="en-US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Validación</a:t>
            </a:r>
            <a:r>
              <a:rPr lang="en-US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Estratificada</a:t>
            </a:r>
            <a:r>
              <a:rPr lang="en-US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por</a:t>
            </a:r>
            <a:r>
              <a:rPr lang="en-US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quintiles</a:t>
            </a: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4155"/>
                </a:solidFill>
                <a:latin typeface="DM Sans"/>
                <a:sym typeface="DM Sans"/>
              </a:rPr>
              <a:t>R2 Score: </a:t>
            </a:r>
            <a:r>
              <a:rPr lang="en-US" dirty="0" err="1">
                <a:solidFill>
                  <a:srgbClr val="334155"/>
                </a:solidFill>
                <a:latin typeface="DM Sans"/>
                <a:sym typeface="DM Sans"/>
              </a:rPr>
              <a:t>explica</a:t>
            </a:r>
            <a:r>
              <a:rPr lang="en-US" dirty="0">
                <a:solidFill>
                  <a:srgbClr val="334155"/>
                </a:solidFill>
                <a:latin typeface="DM Sans"/>
                <a:sym typeface="DM Sans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DM Sans"/>
                <a:sym typeface="DM Sans"/>
              </a:rPr>
              <a:t>el</a:t>
            </a:r>
            <a:r>
              <a:rPr lang="en-US" dirty="0">
                <a:solidFill>
                  <a:srgbClr val="334155"/>
                </a:solidFill>
                <a:latin typeface="DM Sans"/>
                <a:sym typeface="DM Sans"/>
              </a:rPr>
              <a:t> 21% de la </a:t>
            </a:r>
            <a:r>
              <a:rPr lang="en-US" dirty="0" err="1">
                <a:solidFill>
                  <a:srgbClr val="334155"/>
                </a:solidFill>
                <a:latin typeface="DM Sans"/>
                <a:sym typeface="DM Sans"/>
              </a:rPr>
              <a:t>variabilidad</a:t>
            </a:r>
            <a:r>
              <a:rPr lang="en-US" dirty="0">
                <a:solidFill>
                  <a:srgbClr val="334155"/>
                </a:solidFill>
                <a:latin typeface="DM Sans"/>
                <a:sym typeface="DM Sans"/>
              </a:rPr>
              <a:t> de la target.</a:t>
            </a: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4155"/>
                </a:solidFill>
                <a:latin typeface="DM Sans"/>
                <a:sym typeface="DM Sans"/>
              </a:rPr>
              <a:t>MAE de $3140 </a:t>
            </a:r>
            <a:r>
              <a:rPr lang="en-US" dirty="0" err="1">
                <a:solidFill>
                  <a:srgbClr val="334155"/>
                </a:solidFill>
                <a:latin typeface="DM Sans"/>
                <a:sym typeface="DM Sans"/>
              </a:rPr>
              <a:t>en</a:t>
            </a:r>
            <a:r>
              <a:rPr lang="en-US" dirty="0">
                <a:solidFill>
                  <a:srgbClr val="334155"/>
                </a:solidFill>
                <a:latin typeface="DM Sans"/>
                <a:sym typeface="DM Sans"/>
              </a:rPr>
              <a:t> Train y $3169 </a:t>
            </a:r>
            <a:r>
              <a:rPr lang="en-US" dirty="0" err="1">
                <a:solidFill>
                  <a:srgbClr val="334155"/>
                </a:solidFill>
                <a:latin typeface="DM Sans"/>
                <a:sym typeface="DM Sans"/>
              </a:rPr>
              <a:t>en</a:t>
            </a:r>
            <a:r>
              <a:rPr lang="en-US" dirty="0">
                <a:solidFill>
                  <a:srgbClr val="334155"/>
                </a:solidFill>
                <a:latin typeface="DM Sans"/>
                <a:sym typeface="DM Sans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DM Sans"/>
                <a:sym typeface="DM Sans"/>
              </a:rPr>
              <a:t>el</a:t>
            </a:r>
            <a:r>
              <a:rPr lang="en-US" dirty="0">
                <a:solidFill>
                  <a:srgbClr val="334155"/>
                </a:solidFill>
                <a:latin typeface="DM Sans"/>
                <a:sym typeface="DM Sans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DM Sans"/>
                <a:sym typeface="DM Sans"/>
              </a:rPr>
              <a:t>grupo</a:t>
            </a:r>
            <a:r>
              <a:rPr lang="en-US" dirty="0">
                <a:solidFill>
                  <a:srgbClr val="334155"/>
                </a:solidFill>
                <a:latin typeface="DM Sans"/>
                <a:sym typeface="DM Sans"/>
              </a:rPr>
              <a:t> de Test.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9549918-9B97-F31B-290B-3F949958C6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5733" y="1807208"/>
            <a:ext cx="6022512" cy="33157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5462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6343650"/>
            <a:ext cx="108585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8000" y="1856510"/>
            <a:ext cx="5588000" cy="3362036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9"/>
          <p:cNvSpPr txBox="1"/>
          <p:nvPr/>
        </p:nvSpPr>
        <p:spPr>
          <a:xfrm>
            <a:off x="857250" y="776585"/>
            <a:ext cx="1120140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>
                <a:solidFill>
                  <a:srgbClr val="005088"/>
                </a:solidFill>
                <a:latin typeface=""/>
                <a:ea typeface="Merriweather"/>
                <a:cs typeface="Merriweather"/>
                <a:sym typeface="Merriweather"/>
              </a:rPr>
              <a:t>06. MODELO 2: RED NEURONAL DENSA</a:t>
            </a:r>
            <a:endParaRPr dirty="0">
              <a:latin typeface=""/>
            </a:endParaRPr>
          </a:p>
        </p:txBody>
      </p:sp>
      <p:sp>
        <p:nvSpPr>
          <p:cNvPr id="207" name="Google Shape;207;p19"/>
          <p:cNvSpPr/>
          <p:nvPr/>
        </p:nvSpPr>
        <p:spPr>
          <a:xfrm>
            <a:off x="666750" y="776585"/>
            <a:ext cx="95250" cy="4476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9"/>
          <p:cNvSpPr txBox="1"/>
          <p:nvPr/>
        </p:nvSpPr>
        <p:spPr>
          <a:xfrm>
            <a:off x="666750" y="6448425"/>
            <a:ext cx="34480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Diplomado Ciencia de Datos - Fes Acatlán UNAM G33</a:t>
            </a:r>
            <a:endParaRPr/>
          </a:p>
        </p:txBody>
      </p:sp>
      <p:sp>
        <p:nvSpPr>
          <p:cNvPr id="209" name="Google Shape;209;p19"/>
          <p:cNvSpPr txBox="1"/>
          <p:nvPr/>
        </p:nvSpPr>
        <p:spPr>
          <a:xfrm>
            <a:off x="10972800" y="6448425"/>
            <a:ext cx="5524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Página 6</a:t>
            </a:r>
            <a:endParaRPr/>
          </a:p>
        </p:txBody>
      </p:sp>
      <p:sp>
        <p:nvSpPr>
          <p:cNvPr id="212" name="Google Shape;212;p19"/>
          <p:cNvSpPr txBox="1"/>
          <p:nvPr/>
        </p:nvSpPr>
        <p:spPr>
          <a:xfrm>
            <a:off x="6557963" y="1850804"/>
            <a:ext cx="5500687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 err="1">
                <a:solidFill>
                  <a:srgbClr val="005088"/>
                </a:solidFill>
                <a:latin typeface=""/>
                <a:ea typeface="Merriweather"/>
                <a:cs typeface="Merriweather"/>
                <a:sym typeface="Merriweather"/>
              </a:rPr>
              <a:t>Arquitectura</a:t>
            </a:r>
            <a:r>
              <a:rPr lang="en-US" sz="1950" b="1" i="0" u="none" strike="noStrike" cap="none" dirty="0">
                <a:solidFill>
                  <a:srgbClr val="005088"/>
                </a:solidFill>
                <a:latin typeface=""/>
                <a:ea typeface="Merriweather"/>
                <a:cs typeface="Merriweather"/>
                <a:sym typeface="Merriweather"/>
              </a:rPr>
              <a:t> y </a:t>
            </a:r>
            <a:r>
              <a:rPr lang="en-US" sz="1950" b="1" i="0" u="none" strike="noStrike" cap="none" dirty="0" err="1">
                <a:solidFill>
                  <a:srgbClr val="005088"/>
                </a:solidFill>
                <a:latin typeface=""/>
                <a:ea typeface="Merriweather"/>
                <a:cs typeface="Merriweather"/>
                <a:sym typeface="Merriweather"/>
              </a:rPr>
              <a:t>Robustez</a:t>
            </a:r>
            <a:endParaRPr dirty="0">
              <a:latin typeface=""/>
            </a:endParaRPr>
          </a:p>
        </p:txBody>
      </p:sp>
      <p:sp>
        <p:nvSpPr>
          <p:cNvPr id="213" name="Google Shape;213;p19"/>
          <p:cNvSpPr txBox="1"/>
          <p:nvPr/>
        </p:nvSpPr>
        <p:spPr>
          <a:xfrm>
            <a:off x="6557963" y="2346104"/>
            <a:ext cx="5238750" cy="506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Implementación de una red de 3 capas (128-64-32) con regularización Dropout.</a:t>
            </a:r>
            <a:endParaRPr/>
          </a:p>
        </p:txBody>
      </p:sp>
      <p:sp>
        <p:nvSpPr>
          <p:cNvPr id="215" name="Google Shape;215;p19"/>
          <p:cNvSpPr txBox="1"/>
          <p:nvPr/>
        </p:nvSpPr>
        <p:spPr>
          <a:xfrm>
            <a:off x="6486381" y="3163215"/>
            <a:ext cx="4857750" cy="3026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25" b="1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RobustScaler</a:t>
            </a:r>
            <a:r>
              <a:rPr lang="en-US" sz="1425" b="1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Escalado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inmune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a outliers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basado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en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Mediana e IQR.</a:t>
            </a: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Optimizador</a:t>
            </a:r>
            <a:r>
              <a:rPr lang="en-US" b="1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lang="en-US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Adam con </a:t>
            </a:r>
            <a:r>
              <a:rPr lang="en-US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ReduceLROnPlateau</a:t>
            </a:r>
            <a:r>
              <a:rPr lang="en-US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lang="en-US" dirty="0"/>
          </a:p>
          <a:p>
            <a:pPr marL="285750" lvl="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Estado:</a:t>
            </a:r>
            <a:r>
              <a:rPr lang="en-US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Convergencia</a:t>
            </a:r>
            <a:r>
              <a:rPr lang="en-US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estable</a:t>
            </a:r>
            <a:r>
              <a:rPr lang="en-US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sin </a:t>
            </a:r>
            <a:r>
              <a:rPr lang="en-US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sobreajuste</a:t>
            </a:r>
            <a:r>
              <a:rPr lang="en-US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</a:p>
          <a:p>
            <a:pPr marL="285750" lvl="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4155"/>
                </a:solidFill>
                <a:latin typeface="DM Sans"/>
                <a:sym typeface="DM Sans"/>
              </a:rPr>
              <a:t>R2 de 0.0475.</a:t>
            </a:r>
          </a:p>
          <a:p>
            <a:pPr marL="285750" lvl="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334155"/>
                </a:solidFill>
                <a:latin typeface="DM Sans"/>
                <a:sym typeface="DM Sans"/>
              </a:rPr>
              <a:t>Interpretación</a:t>
            </a:r>
            <a:r>
              <a:rPr lang="en-US" dirty="0">
                <a:solidFill>
                  <a:srgbClr val="334155"/>
                </a:solidFill>
                <a:latin typeface="DM Sans"/>
                <a:sym typeface="DM Sans"/>
              </a:rPr>
              <a:t>: </a:t>
            </a:r>
            <a:r>
              <a:rPr lang="en-US" dirty="0" err="1">
                <a:solidFill>
                  <a:srgbClr val="334155"/>
                </a:solidFill>
                <a:latin typeface="DM Sans"/>
                <a:sym typeface="DM Sans"/>
              </a:rPr>
              <a:t>aunque</a:t>
            </a:r>
            <a:r>
              <a:rPr lang="en-US" dirty="0">
                <a:solidFill>
                  <a:srgbClr val="334155"/>
                </a:solidFill>
                <a:latin typeface="DM Sans"/>
                <a:sym typeface="DM Sans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DM Sans"/>
                <a:sym typeface="DM Sans"/>
              </a:rPr>
              <a:t>logra</a:t>
            </a:r>
            <a:r>
              <a:rPr lang="en-US" dirty="0">
                <a:solidFill>
                  <a:srgbClr val="334155"/>
                </a:solidFill>
                <a:latin typeface="DM Sans"/>
                <a:sym typeface="DM Sans"/>
              </a:rPr>
              <a:t> un MAE </a:t>
            </a:r>
            <a:r>
              <a:rPr lang="en-US" dirty="0" err="1">
                <a:solidFill>
                  <a:srgbClr val="334155"/>
                </a:solidFill>
                <a:latin typeface="DM Sans"/>
                <a:sym typeface="DM Sans"/>
              </a:rPr>
              <a:t>menor</a:t>
            </a:r>
            <a:r>
              <a:rPr lang="en-US" dirty="0">
                <a:solidFill>
                  <a:srgbClr val="334155"/>
                </a:solidFill>
                <a:latin typeface="DM Sans"/>
                <a:sym typeface="DM Sans"/>
              </a:rPr>
              <a:t> a l</a:t>
            </a:r>
          </a:p>
          <a:p>
            <a:pPr lvl="0">
              <a:lnSpc>
                <a:spcPct val="140000"/>
              </a:lnSpc>
            </a:pPr>
            <a:r>
              <a:rPr lang="en-US" dirty="0" err="1">
                <a:solidFill>
                  <a:srgbClr val="334155"/>
                </a:solidFill>
                <a:latin typeface="DM Sans"/>
                <a:sym typeface="DM Sans"/>
              </a:rPr>
              <a:t>LightGBM</a:t>
            </a:r>
            <a:r>
              <a:rPr lang="en-US" dirty="0">
                <a:solidFill>
                  <a:srgbClr val="334155"/>
                </a:solidFill>
                <a:latin typeface="DM Sans"/>
                <a:sym typeface="DM Sans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DM Sans"/>
                <a:sym typeface="DM Sans"/>
              </a:rPr>
              <a:t>esta</a:t>
            </a:r>
            <a:r>
              <a:rPr lang="en-US" dirty="0">
                <a:solidFill>
                  <a:srgbClr val="334155"/>
                </a:solidFill>
                <a:latin typeface="DM Sans"/>
                <a:sym typeface="DM Sans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DM Sans"/>
                <a:sym typeface="DM Sans"/>
              </a:rPr>
              <a:t>métrica</a:t>
            </a:r>
            <a:r>
              <a:rPr lang="en-US" dirty="0">
                <a:solidFill>
                  <a:srgbClr val="334155"/>
                </a:solidFill>
                <a:latin typeface="DM Sans"/>
                <a:sym typeface="DM Sans"/>
              </a:rPr>
              <a:t> es inferior </a:t>
            </a:r>
            <a:r>
              <a:rPr lang="en-US" dirty="0" err="1">
                <a:solidFill>
                  <a:srgbClr val="334155"/>
                </a:solidFill>
                <a:latin typeface="DM Sans"/>
                <a:sym typeface="DM Sans"/>
              </a:rPr>
              <a:t>sugiriendo</a:t>
            </a:r>
            <a:r>
              <a:rPr lang="en-US" dirty="0">
                <a:solidFill>
                  <a:srgbClr val="334155"/>
                </a:solidFill>
                <a:latin typeface="DM Sans"/>
                <a:sym typeface="DM Sans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DM Sans"/>
                <a:sym typeface="DM Sans"/>
              </a:rPr>
              <a:t>que</a:t>
            </a:r>
            <a:r>
              <a:rPr lang="en-US" dirty="0">
                <a:solidFill>
                  <a:srgbClr val="334155"/>
                </a:solidFill>
                <a:latin typeface="DM Sans"/>
                <a:sym typeface="DM Sans"/>
              </a:rPr>
              <a:t> la red se </a:t>
            </a:r>
            <a:r>
              <a:rPr lang="en-US" dirty="0" err="1">
                <a:solidFill>
                  <a:srgbClr val="334155"/>
                </a:solidFill>
                <a:latin typeface="DM Sans"/>
                <a:sym typeface="DM Sans"/>
              </a:rPr>
              <a:t>especializa</a:t>
            </a:r>
            <a:r>
              <a:rPr lang="en-US" dirty="0">
                <a:solidFill>
                  <a:srgbClr val="334155"/>
                </a:solidFill>
                <a:latin typeface="DM Sans"/>
                <a:sym typeface="DM Sans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DM Sans"/>
                <a:sym typeface="DM Sans"/>
              </a:rPr>
              <a:t>en</a:t>
            </a:r>
            <a:r>
              <a:rPr lang="en-US" dirty="0">
                <a:solidFill>
                  <a:srgbClr val="334155"/>
                </a:solidFill>
                <a:latin typeface="DM Sans"/>
                <a:sym typeface="DM Sans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DM Sans"/>
                <a:sym typeface="DM Sans"/>
              </a:rPr>
              <a:t>el</a:t>
            </a:r>
            <a:r>
              <a:rPr lang="en-US" dirty="0">
                <a:solidFill>
                  <a:srgbClr val="334155"/>
                </a:solidFill>
                <a:latin typeface="DM Sans"/>
                <a:sym typeface="DM Sans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DM Sans"/>
                <a:sym typeface="DM Sans"/>
              </a:rPr>
              <a:t>rango</a:t>
            </a:r>
            <a:r>
              <a:rPr lang="en-US" dirty="0">
                <a:solidFill>
                  <a:srgbClr val="334155"/>
                </a:solidFill>
                <a:latin typeface="DM Sans"/>
                <a:sym typeface="DM Sans"/>
              </a:rPr>
              <a:t> central de </a:t>
            </a:r>
            <a:r>
              <a:rPr lang="en-US" dirty="0" err="1">
                <a:solidFill>
                  <a:srgbClr val="334155"/>
                </a:solidFill>
                <a:latin typeface="DM Sans"/>
                <a:sym typeface="DM Sans"/>
              </a:rPr>
              <a:t>los</a:t>
            </a:r>
            <a:r>
              <a:rPr lang="en-US" dirty="0">
                <a:solidFill>
                  <a:srgbClr val="334155"/>
                </a:solidFill>
                <a:latin typeface="DM Sans"/>
                <a:sym typeface="DM Sans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DM Sans"/>
                <a:sym typeface="DM Sans"/>
              </a:rPr>
              <a:t>datos</a:t>
            </a:r>
            <a:r>
              <a:rPr lang="en-US" dirty="0">
                <a:solidFill>
                  <a:srgbClr val="334155"/>
                </a:solidFill>
                <a:latin typeface="DM Sans"/>
                <a:sym typeface="DM Sans"/>
              </a:rPr>
              <a:t>.</a:t>
            </a:r>
          </a:p>
          <a:p>
            <a:pPr marL="285750" lvl="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4155"/>
                </a:solidFill>
                <a:latin typeface="DM Sans"/>
                <a:sym typeface="DM Sans"/>
              </a:rPr>
              <a:t>El MAE de train </a:t>
            </a:r>
            <a:r>
              <a:rPr lang="en-US" dirty="0" err="1">
                <a:solidFill>
                  <a:srgbClr val="334155"/>
                </a:solidFill>
                <a:latin typeface="DM Sans"/>
                <a:sym typeface="DM Sans"/>
              </a:rPr>
              <a:t>fue</a:t>
            </a:r>
            <a:r>
              <a:rPr lang="en-US" dirty="0">
                <a:solidFill>
                  <a:srgbClr val="334155"/>
                </a:solidFill>
                <a:latin typeface="DM Sans"/>
                <a:sym typeface="DM Sans"/>
              </a:rPr>
              <a:t> de 2813.16 </a:t>
            </a:r>
            <a:r>
              <a:rPr lang="en-US" dirty="0" err="1">
                <a:solidFill>
                  <a:srgbClr val="334155"/>
                </a:solidFill>
                <a:latin typeface="DM Sans"/>
                <a:sym typeface="DM Sans"/>
              </a:rPr>
              <a:t>mientras</a:t>
            </a:r>
            <a:r>
              <a:rPr lang="en-US" dirty="0">
                <a:solidFill>
                  <a:srgbClr val="334155"/>
                </a:solidFill>
                <a:latin typeface="DM Sans"/>
                <a:sym typeface="DM Sans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DM Sans"/>
                <a:sym typeface="DM Sans"/>
              </a:rPr>
              <a:t>que</a:t>
            </a:r>
            <a:r>
              <a:rPr lang="en-US" dirty="0">
                <a:solidFill>
                  <a:srgbClr val="334155"/>
                </a:solidFill>
                <a:latin typeface="DM Sans"/>
                <a:sym typeface="DM Sans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DM Sans"/>
                <a:sym typeface="DM Sans"/>
              </a:rPr>
              <a:t>el</a:t>
            </a:r>
            <a:r>
              <a:rPr lang="en-US" dirty="0">
                <a:solidFill>
                  <a:srgbClr val="334155"/>
                </a:solidFill>
                <a:latin typeface="DM Sans"/>
                <a:sym typeface="DM Sans"/>
              </a:rPr>
              <a:t> de test </a:t>
            </a:r>
            <a:r>
              <a:rPr lang="en-US" dirty="0" err="1">
                <a:solidFill>
                  <a:srgbClr val="334155"/>
                </a:solidFill>
                <a:latin typeface="DM Sans"/>
                <a:sym typeface="DM Sans"/>
              </a:rPr>
              <a:t>fue</a:t>
            </a:r>
            <a:r>
              <a:rPr lang="en-US" dirty="0">
                <a:solidFill>
                  <a:srgbClr val="334155"/>
                </a:solidFill>
                <a:latin typeface="DM Sans"/>
                <a:sym typeface="DM Sans"/>
              </a:rPr>
              <a:t> de 2812.84</a:t>
            </a: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95EDB2F-47D7-0546-600B-C00B87FFD8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200" y="1954560"/>
            <a:ext cx="5347378" cy="297765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38125"/>
            <a:ext cx="12192000" cy="661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6343650"/>
            <a:ext cx="108585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0"/>
          <p:cNvSpPr txBox="1"/>
          <p:nvPr/>
        </p:nvSpPr>
        <p:spPr>
          <a:xfrm>
            <a:off x="857250" y="776585"/>
            <a:ext cx="1120140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>
                <a:solidFill>
                  <a:srgbClr val="005088"/>
                </a:solidFill>
                <a:latin typeface=""/>
                <a:ea typeface="Merriweather"/>
                <a:cs typeface="Merriweather"/>
                <a:sym typeface="Merriweather"/>
              </a:rPr>
              <a:t>07. BENCHMARK: TRAIN VS. TEST</a:t>
            </a:r>
            <a:endParaRPr dirty="0">
              <a:latin typeface=""/>
            </a:endParaRPr>
          </a:p>
        </p:txBody>
      </p:sp>
      <p:sp>
        <p:nvSpPr>
          <p:cNvPr id="227" name="Google Shape;227;p20"/>
          <p:cNvSpPr/>
          <p:nvPr/>
        </p:nvSpPr>
        <p:spPr>
          <a:xfrm>
            <a:off x="666750" y="776585"/>
            <a:ext cx="95250" cy="4476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0"/>
          <p:cNvSpPr txBox="1"/>
          <p:nvPr/>
        </p:nvSpPr>
        <p:spPr>
          <a:xfrm>
            <a:off x="666751" y="1840982"/>
            <a:ext cx="11401425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 err="1">
                <a:solidFill>
                  <a:srgbClr val="005088"/>
                </a:solidFill>
                <a:latin typeface=""/>
                <a:ea typeface="Merriweather"/>
                <a:cs typeface="Merriweather"/>
                <a:sym typeface="Merriweather"/>
              </a:rPr>
              <a:t>Comparativa</a:t>
            </a:r>
            <a:r>
              <a:rPr lang="en-US" sz="1950" b="1" i="0" u="none" strike="noStrike" cap="none" dirty="0">
                <a:solidFill>
                  <a:srgbClr val="005088"/>
                </a:solidFill>
                <a:latin typeface=""/>
                <a:ea typeface="Merriweather"/>
                <a:cs typeface="Merriweather"/>
                <a:sym typeface="Merriweather"/>
              </a:rPr>
              <a:t> de Error </a:t>
            </a:r>
            <a:r>
              <a:rPr lang="en-US" sz="1950" b="1" i="0" u="none" strike="noStrike" cap="none" dirty="0" err="1">
                <a:solidFill>
                  <a:srgbClr val="005088"/>
                </a:solidFill>
                <a:latin typeface=""/>
                <a:ea typeface="Merriweather"/>
                <a:cs typeface="Merriweather"/>
                <a:sym typeface="Merriweather"/>
              </a:rPr>
              <a:t>Absoluto</a:t>
            </a:r>
            <a:r>
              <a:rPr lang="en-US" sz="1950" b="1" i="0" u="none" strike="noStrike" cap="none" dirty="0">
                <a:solidFill>
                  <a:srgbClr val="005088"/>
                </a:solidFill>
                <a:latin typeface=""/>
                <a:ea typeface="Merriweather"/>
                <a:cs typeface="Merriweather"/>
                <a:sym typeface="Merriweather"/>
              </a:rPr>
              <a:t> (MAE)</a:t>
            </a:r>
            <a:endParaRPr dirty="0">
              <a:latin typeface=""/>
            </a:endParaRPr>
          </a:p>
        </p:txBody>
      </p:sp>
      <p:sp>
        <p:nvSpPr>
          <p:cNvPr id="229" name="Google Shape;229;p20"/>
          <p:cNvSpPr/>
          <p:nvPr/>
        </p:nvSpPr>
        <p:spPr>
          <a:xfrm>
            <a:off x="666749" y="2257127"/>
            <a:ext cx="10858500" cy="174307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0" name="Google Shape;230;p20"/>
          <p:cNvGraphicFramePr/>
          <p:nvPr>
            <p:extLst>
              <p:ext uri="{D42A27DB-BD31-4B8C-83A1-F6EECF244321}">
                <p14:modId xmlns:p14="http://schemas.microsoft.com/office/powerpoint/2010/main" val="1588922595"/>
              </p:ext>
            </p:extLst>
          </p:nvPr>
        </p:nvGraphicFramePr>
        <p:xfrm>
          <a:off x="666749" y="2257127"/>
          <a:ext cx="10858500" cy="1736508"/>
        </p:xfrm>
        <a:graphic>
          <a:graphicData uri="http://schemas.openxmlformats.org/drawingml/2006/table">
            <a:tbl>
              <a:tblPr firstRow="1" bandRow="1">
                <a:noFill/>
                <a:tableStyleId>{8F34BDEF-1762-4DCE-B2DC-1E85D35D39B6}</a:tableStyleId>
              </a:tblPr>
              <a:tblGrid>
                <a:gridCol w="3538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6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9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8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4127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 dirty="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Modelo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 dirty="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MAE Train ($)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 dirty="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MAE Test ($)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 dirty="0" err="1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Diferencia</a:t>
                      </a:r>
                      <a:r>
                        <a:rPr lang="en-US" sz="1600" b="1" i="0" u="none" strike="noStrike" cap="none" dirty="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/ Overfit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127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DM Sans Medium"/>
                          <a:ea typeface="DM Sans Medium"/>
                          <a:cs typeface="DM Sans Medium"/>
                          <a:sym typeface="DM Sans Medium"/>
                        </a:rPr>
                        <a:t>Baseline (Proyección Lineal)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DM Sans Medium"/>
                          <a:ea typeface="DM Sans Medium"/>
                          <a:cs typeface="DM Sans Medium"/>
                          <a:sym typeface="DM Sans Medium"/>
                        </a:rPr>
                        <a:t>-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DM Sans Medium"/>
                          <a:ea typeface="DM Sans Medium"/>
                          <a:cs typeface="DM Sans Medium"/>
                          <a:sym typeface="DM Sans Medium"/>
                        </a:rPr>
                        <a:t>$9,635.04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DM Sans Medium"/>
                          <a:ea typeface="DM Sans Medium"/>
                          <a:cs typeface="DM Sans Medium"/>
                          <a:sym typeface="DM Sans Medium"/>
                        </a:rPr>
                        <a:t>—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127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LightGBM (Tweedie)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DM Sans Medium"/>
                          <a:ea typeface="DM Sans Medium"/>
                          <a:cs typeface="DM Sans Medium"/>
                          <a:sym typeface="DM Sans Medium"/>
                        </a:rPr>
                        <a:t>$3,140.09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DM Sans Medium"/>
                          <a:ea typeface="DM Sans Medium"/>
                          <a:cs typeface="DM Sans Medium"/>
                          <a:sym typeface="DM Sans Medium"/>
                        </a:rPr>
                        <a:t>$3,169.38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DM Sans Medium"/>
                          <a:ea typeface="DM Sans Medium"/>
                          <a:cs typeface="DM Sans Medium"/>
                          <a:sym typeface="DM Sans Medium"/>
                        </a:rPr>
                        <a:t>+0.9% (Muy Estable)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127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Red Neuronal (Robust)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5088"/>
                          </a:solidFill>
                          <a:latin typeface="DM Sans Medium"/>
                          <a:ea typeface="DM Sans Medium"/>
                          <a:cs typeface="DM Sans Medium"/>
                          <a:sym typeface="DM Sans Medium"/>
                        </a:rPr>
                        <a:t>$2,831.26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5088"/>
                          </a:solidFill>
                          <a:latin typeface="DM Sans Medium"/>
                          <a:ea typeface="DM Sans Medium"/>
                          <a:cs typeface="DM Sans Medium"/>
                          <a:sym typeface="DM Sans Medium"/>
                        </a:rPr>
                        <a:t>$2,833.43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5088"/>
                          </a:solidFill>
                          <a:latin typeface="DM Sans Medium"/>
                          <a:ea typeface="DM Sans Medium"/>
                          <a:cs typeface="DM Sans Medium"/>
                          <a:sym typeface="DM Sans Medium"/>
                        </a:rPr>
                        <a:t>+0.07% (</a:t>
                      </a:r>
                      <a:r>
                        <a:rPr lang="en-US" sz="1200" b="0" i="0" u="none" strike="noStrike" cap="none" dirty="0" err="1">
                          <a:solidFill>
                            <a:srgbClr val="005088"/>
                          </a:solidFill>
                          <a:latin typeface="DM Sans Medium"/>
                          <a:ea typeface="DM Sans Medium"/>
                          <a:cs typeface="DM Sans Medium"/>
                          <a:sym typeface="DM Sans Medium"/>
                        </a:rPr>
                        <a:t>Excelente</a:t>
                      </a:r>
                      <a:r>
                        <a:rPr lang="en-US" sz="1200" b="0" i="0" u="none" strike="noStrike" cap="none" dirty="0">
                          <a:solidFill>
                            <a:srgbClr val="005088"/>
                          </a:solidFill>
                          <a:latin typeface="DM Sans Medium"/>
                          <a:ea typeface="DM Sans Medium"/>
                          <a:cs typeface="DM Sans Medium"/>
                          <a:sym typeface="DM Sans Medium"/>
                        </a:rPr>
                        <a:t>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31" name="Google Shape;231;p20"/>
          <p:cNvSpPr txBox="1"/>
          <p:nvPr/>
        </p:nvSpPr>
        <p:spPr>
          <a:xfrm>
            <a:off x="666751" y="4327007"/>
            <a:ext cx="10858500" cy="253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Ambos </a:t>
            </a:r>
            <a:r>
              <a:rPr lang="en-US" sz="1425" b="1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modelos</a:t>
            </a:r>
            <a:r>
              <a:rPr lang="en-US" sz="1425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425" b="1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logran</a:t>
            </a:r>
            <a:r>
              <a:rPr lang="en-US" sz="1425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425" b="1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una</a:t>
            </a:r>
            <a:r>
              <a:rPr lang="en-US" sz="1425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425" b="1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reducción</a:t>
            </a:r>
            <a:r>
              <a:rPr lang="en-US" sz="1425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del error superior al 67% </a:t>
            </a:r>
            <a:r>
              <a:rPr lang="en-US" sz="1425" b="1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frente</a:t>
            </a:r>
            <a:r>
              <a:rPr lang="en-US" sz="1425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al Baseline.</a:t>
            </a:r>
            <a:endParaRPr dirty="0"/>
          </a:p>
        </p:txBody>
      </p:sp>
      <p:sp>
        <p:nvSpPr>
          <p:cNvPr id="232" name="Google Shape;232;p20"/>
          <p:cNvSpPr txBox="1"/>
          <p:nvPr/>
        </p:nvSpPr>
        <p:spPr>
          <a:xfrm>
            <a:off x="666750" y="6448425"/>
            <a:ext cx="34480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Diplomado Ciencia de Datos - Fes Acatlán UNAM G33</a:t>
            </a:r>
            <a:endParaRPr/>
          </a:p>
        </p:txBody>
      </p:sp>
      <p:sp>
        <p:nvSpPr>
          <p:cNvPr id="233" name="Google Shape;233;p20"/>
          <p:cNvSpPr txBox="1"/>
          <p:nvPr/>
        </p:nvSpPr>
        <p:spPr>
          <a:xfrm>
            <a:off x="10982325" y="6448425"/>
            <a:ext cx="54292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Página 7</a:t>
            </a:r>
            <a:endParaRPr/>
          </a:p>
        </p:txBody>
      </p:sp>
      <p:sp>
        <p:nvSpPr>
          <p:cNvPr id="234" name="Google Shape;234;p20"/>
          <p:cNvSpPr/>
          <p:nvPr/>
        </p:nvSpPr>
        <p:spPr>
          <a:xfrm>
            <a:off x="666750" y="3990677"/>
            <a:ext cx="353809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0"/>
          <p:cNvSpPr/>
          <p:nvPr/>
        </p:nvSpPr>
        <p:spPr>
          <a:xfrm>
            <a:off x="4204841" y="3990677"/>
            <a:ext cx="19367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0"/>
          <p:cNvSpPr/>
          <p:nvPr/>
        </p:nvSpPr>
        <p:spPr>
          <a:xfrm>
            <a:off x="6141541" y="3990677"/>
            <a:ext cx="26992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0"/>
          <p:cNvSpPr/>
          <p:nvPr/>
        </p:nvSpPr>
        <p:spPr>
          <a:xfrm>
            <a:off x="8840837" y="3990677"/>
            <a:ext cx="26844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0"/>
          <p:cNvSpPr/>
          <p:nvPr/>
        </p:nvSpPr>
        <p:spPr>
          <a:xfrm>
            <a:off x="666750" y="4428827"/>
            <a:ext cx="353809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0"/>
          <p:cNvSpPr/>
          <p:nvPr/>
        </p:nvSpPr>
        <p:spPr>
          <a:xfrm>
            <a:off x="4204841" y="4428827"/>
            <a:ext cx="19367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0"/>
          <p:cNvSpPr/>
          <p:nvPr/>
        </p:nvSpPr>
        <p:spPr>
          <a:xfrm>
            <a:off x="6141541" y="4428827"/>
            <a:ext cx="26992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0"/>
          <p:cNvSpPr/>
          <p:nvPr/>
        </p:nvSpPr>
        <p:spPr>
          <a:xfrm>
            <a:off x="8840837" y="4428827"/>
            <a:ext cx="26844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0"/>
          <p:cNvSpPr/>
          <p:nvPr/>
        </p:nvSpPr>
        <p:spPr>
          <a:xfrm>
            <a:off x="666750" y="4866977"/>
            <a:ext cx="353809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0"/>
          <p:cNvSpPr/>
          <p:nvPr/>
        </p:nvSpPr>
        <p:spPr>
          <a:xfrm>
            <a:off x="4204841" y="4866977"/>
            <a:ext cx="19367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0"/>
          <p:cNvSpPr/>
          <p:nvPr/>
        </p:nvSpPr>
        <p:spPr>
          <a:xfrm>
            <a:off x="6141541" y="4866977"/>
            <a:ext cx="26992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0"/>
          <p:cNvSpPr/>
          <p:nvPr/>
        </p:nvSpPr>
        <p:spPr>
          <a:xfrm>
            <a:off x="8840837" y="4866977"/>
            <a:ext cx="26844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6343650"/>
            <a:ext cx="108585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05525" y="1820192"/>
            <a:ext cx="5238750" cy="2893218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1"/>
          <p:cNvSpPr txBox="1"/>
          <p:nvPr/>
        </p:nvSpPr>
        <p:spPr>
          <a:xfrm>
            <a:off x="857250" y="776585"/>
            <a:ext cx="1120140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>
                <a:solidFill>
                  <a:srgbClr val="005088"/>
                </a:solidFill>
                <a:latin typeface=""/>
                <a:ea typeface="Merriweather"/>
                <a:cs typeface="Merriweather"/>
                <a:sym typeface="Merriweather"/>
              </a:rPr>
              <a:t>08. DRIVERS DE VALOR (INSIGHTS)</a:t>
            </a:r>
            <a:endParaRPr dirty="0">
              <a:latin typeface=""/>
            </a:endParaRPr>
          </a:p>
        </p:txBody>
      </p:sp>
      <p:sp>
        <p:nvSpPr>
          <p:cNvPr id="254" name="Google Shape;254;p21"/>
          <p:cNvSpPr/>
          <p:nvPr/>
        </p:nvSpPr>
        <p:spPr>
          <a:xfrm>
            <a:off x="666750" y="776585"/>
            <a:ext cx="95250" cy="4476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1"/>
          <p:cNvSpPr txBox="1"/>
          <p:nvPr/>
        </p:nvSpPr>
        <p:spPr>
          <a:xfrm>
            <a:off x="666750" y="6448425"/>
            <a:ext cx="34480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Diplomado Ciencia de Datos - Fes Acatlán UNAM G33</a:t>
            </a:r>
            <a:endParaRPr/>
          </a:p>
        </p:txBody>
      </p:sp>
      <p:sp>
        <p:nvSpPr>
          <p:cNvPr id="256" name="Google Shape;256;p21"/>
          <p:cNvSpPr txBox="1"/>
          <p:nvPr/>
        </p:nvSpPr>
        <p:spPr>
          <a:xfrm>
            <a:off x="10972800" y="6448425"/>
            <a:ext cx="5524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Página 8</a:t>
            </a:r>
            <a:endParaRPr/>
          </a:p>
        </p:txBody>
      </p:sp>
      <p:sp>
        <p:nvSpPr>
          <p:cNvPr id="257" name="Google Shape;257;p21"/>
          <p:cNvSpPr txBox="1"/>
          <p:nvPr/>
        </p:nvSpPr>
        <p:spPr>
          <a:xfrm>
            <a:off x="666750" y="1844509"/>
            <a:ext cx="5500687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005088"/>
                </a:solidFill>
                <a:latin typeface=""/>
                <a:ea typeface="Merriweather"/>
                <a:cs typeface="Merriweather"/>
                <a:sym typeface="Merriweather"/>
              </a:rPr>
              <a:t>Ranking de </a:t>
            </a:r>
            <a:r>
              <a:rPr lang="en-US" sz="1950" b="1" i="0" u="none" strike="noStrike" cap="none" dirty="0" err="1">
                <a:solidFill>
                  <a:srgbClr val="005088"/>
                </a:solidFill>
                <a:latin typeface=""/>
                <a:ea typeface="Merriweather"/>
                <a:cs typeface="Merriweather"/>
                <a:sym typeface="Merriweather"/>
              </a:rPr>
              <a:t>Importancia</a:t>
            </a:r>
            <a:endParaRPr dirty="0">
              <a:latin typeface=""/>
            </a:endParaRPr>
          </a:p>
        </p:txBody>
      </p:sp>
      <p:sp>
        <p:nvSpPr>
          <p:cNvPr id="258" name="Google Shape;258;p21"/>
          <p:cNvSpPr txBox="1"/>
          <p:nvPr/>
        </p:nvSpPr>
        <p:spPr>
          <a:xfrm>
            <a:off x="6367462" y="2057900"/>
            <a:ext cx="508063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2D5A27"/>
                </a:solidFill>
                <a:latin typeface="DM Sans"/>
                <a:ea typeface="DM Sans"/>
                <a:cs typeface="DM Sans"/>
                <a:sym typeface="DM Sans"/>
              </a:rPr>
              <a:t>Conclusión</a:t>
            </a:r>
            <a:endParaRPr sz="2000" dirty="0"/>
          </a:p>
        </p:txBody>
      </p:sp>
      <p:sp>
        <p:nvSpPr>
          <p:cNvPr id="259" name="Google Shape;259;p21"/>
          <p:cNvSpPr txBox="1"/>
          <p:nvPr/>
        </p:nvSpPr>
        <p:spPr>
          <a:xfrm>
            <a:off x="6367462" y="2645024"/>
            <a:ext cx="4838700" cy="759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Es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más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rentable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reactivar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a un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cliente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que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compró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hace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poco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que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intentar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venderle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más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a un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cliente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que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gasta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mucho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pero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no ha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vuelto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en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meses.</a:t>
            </a:r>
            <a:endParaRPr dirty="0"/>
          </a:p>
        </p:txBody>
      </p:sp>
      <p:sp>
        <p:nvSpPr>
          <p:cNvPr id="261" name="Google Shape;261;p21"/>
          <p:cNvSpPr txBox="1"/>
          <p:nvPr/>
        </p:nvSpPr>
        <p:spPr>
          <a:xfrm>
            <a:off x="666750" y="2311234"/>
            <a:ext cx="5179218" cy="2116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342900" marR="0" lvl="0" indent="-342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425" b="1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Recencia</a:t>
            </a:r>
            <a:r>
              <a:rPr lang="en-US" sz="1425" b="1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El factor #1. Predictor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crítico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de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lealtad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</a:p>
          <a:p>
            <a:pPr marL="342900" indent="-342900">
              <a:lnSpc>
                <a:spcPct val="140000"/>
              </a:lnSpc>
              <a:buFont typeface="+mj-lt"/>
              <a:buAutoNum type="arabicPeriod"/>
            </a:pPr>
            <a:r>
              <a:rPr lang="en-US" b="1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Monto Histórico:</a:t>
            </a:r>
            <a:r>
              <a:rPr lang="en-US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La </a:t>
            </a:r>
            <a:r>
              <a:rPr lang="en-US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escala</a:t>
            </a:r>
            <a:r>
              <a:rPr lang="en-US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del </a:t>
            </a:r>
            <a:r>
              <a:rPr lang="en-US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gasto</a:t>
            </a:r>
            <a:r>
              <a:rPr lang="en-US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pasado</a:t>
            </a:r>
            <a:r>
              <a:rPr lang="en-US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es </a:t>
            </a:r>
            <a:r>
              <a:rPr lang="en-US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persistente</a:t>
            </a:r>
            <a:r>
              <a:rPr lang="en-US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 </a:t>
            </a:r>
            <a:r>
              <a:rPr lang="en-US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Inercia</a:t>
            </a:r>
            <a:r>
              <a:rPr lang="en-US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en</a:t>
            </a:r>
            <a:r>
              <a:rPr lang="en-US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consume.</a:t>
            </a:r>
          </a:p>
          <a:p>
            <a:pPr marL="342900" indent="-342900">
              <a:lnSpc>
                <a:spcPct val="140000"/>
              </a:lnSpc>
              <a:buFont typeface="+mj-lt"/>
              <a:buAutoNum type="arabicPeriod"/>
            </a:pPr>
            <a:r>
              <a:rPr lang="en-US" b="1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Antigüedad</a:t>
            </a:r>
            <a:r>
              <a:rPr lang="en-US" b="1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lang="en-US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La </a:t>
            </a:r>
            <a:r>
              <a:rPr lang="en-US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lealtad</a:t>
            </a:r>
            <a:r>
              <a:rPr lang="en-US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a largo </a:t>
            </a:r>
            <a:r>
              <a:rPr lang="en-US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plazo</a:t>
            </a:r>
            <a:r>
              <a:rPr lang="en-US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es </a:t>
            </a:r>
            <a:r>
              <a:rPr lang="en-US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una</a:t>
            </a:r>
            <a:r>
              <a:rPr lang="en-US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señal</a:t>
            </a:r>
            <a:r>
              <a:rPr lang="en-US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de </a:t>
            </a:r>
            <a:r>
              <a:rPr lang="en-US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estabilidad</a:t>
            </a:r>
            <a:r>
              <a:rPr lang="en-US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</a:p>
          <a:p>
            <a:pPr marL="342900" indent="-342900">
              <a:lnSpc>
                <a:spcPct val="140000"/>
              </a:lnSpc>
              <a:buFont typeface="+mj-lt"/>
              <a:buAutoNum type="arabicPeriod"/>
            </a:pPr>
            <a:r>
              <a:rPr lang="en-US" b="1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Canal Digital:</a:t>
            </a:r>
            <a:r>
              <a:rPr lang="en-US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E-comm se </a:t>
            </a:r>
            <a:r>
              <a:rPr lang="en-US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identifica</a:t>
            </a:r>
            <a:r>
              <a:rPr lang="en-US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como</a:t>
            </a:r>
            <a:r>
              <a:rPr lang="en-US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un factor </a:t>
            </a:r>
            <a:r>
              <a:rPr lang="en-US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discriminador</a:t>
            </a:r>
            <a:r>
              <a:rPr lang="en-US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relevante</a:t>
            </a:r>
            <a:r>
              <a:rPr lang="en-US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en</a:t>
            </a:r>
            <a:r>
              <a:rPr lang="en-US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el</a:t>
            </a:r>
            <a:r>
              <a:rPr lang="en-US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valor del </a:t>
            </a:r>
            <a:r>
              <a:rPr lang="en-US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cliente</a:t>
            </a:r>
            <a:r>
              <a:rPr lang="en-US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Google Shape;272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6343650"/>
            <a:ext cx="108585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750" y="1865485"/>
            <a:ext cx="5286375" cy="1268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1865485"/>
            <a:ext cx="5286375" cy="1268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750" y="3419846"/>
            <a:ext cx="5286375" cy="1268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3419846"/>
            <a:ext cx="5286375" cy="126861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2"/>
          <p:cNvSpPr txBox="1"/>
          <p:nvPr/>
        </p:nvSpPr>
        <p:spPr>
          <a:xfrm>
            <a:off x="857250" y="776585"/>
            <a:ext cx="1120140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>
                <a:solidFill>
                  <a:srgbClr val="005088"/>
                </a:solidFill>
                <a:latin typeface=""/>
                <a:ea typeface="Merriweather"/>
                <a:cs typeface="Merriweather"/>
                <a:sym typeface="Merriweather"/>
              </a:rPr>
              <a:t>09. CONCLUSIONES CONCRETAS</a:t>
            </a:r>
            <a:endParaRPr dirty="0">
              <a:latin typeface=""/>
            </a:endParaRPr>
          </a:p>
        </p:txBody>
      </p:sp>
      <p:sp>
        <p:nvSpPr>
          <p:cNvPr id="279" name="Google Shape;279;p22"/>
          <p:cNvSpPr/>
          <p:nvPr/>
        </p:nvSpPr>
        <p:spPr>
          <a:xfrm>
            <a:off x="666750" y="776585"/>
            <a:ext cx="95250" cy="4476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2"/>
          <p:cNvSpPr txBox="1"/>
          <p:nvPr/>
        </p:nvSpPr>
        <p:spPr>
          <a:xfrm>
            <a:off x="666750" y="6448425"/>
            <a:ext cx="34480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Diplomado Ciencia de Datos - Fes Acatlán UNAM G33</a:t>
            </a:r>
            <a:endParaRPr/>
          </a:p>
        </p:txBody>
      </p:sp>
      <p:sp>
        <p:nvSpPr>
          <p:cNvPr id="281" name="Google Shape;281;p22"/>
          <p:cNvSpPr txBox="1"/>
          <p:nvPr/>
        </p:nvSpPr>
        <p:spPr>
          <a:xfrm>
            <a:off x="10972800" y="6448425"/>
            <a:ext cx="5524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Página 9</a:t>
            </a:r>
            <a:endParaRPr/>
          </a:p>
        </p:txBody>
      </p:sp>
      <p:sp>
        <p:nvSpPr>
          <p:cNvPr id="282" name="Google Shape;282;p22"/>
          <p:cNvSpPr txBox="1"/>
          <p:nvPr/>
        </p:nvSpPr>
        <p:spPr>
          <a:xfrm>
            <a:off x="857250" y="2213074"/>
            <a:ext cx="4998605" cy="61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25" b="1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Superioridad Técnica: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Los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modelos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de ML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superan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por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un factor de 3x al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método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de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proyección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tradicional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dirty="0"/>
          </a:p>
        </p:txBody>
      </p:sp>
      <p:sp>
        <p:nvSpPr>
          <p:cNvPr id="283" name="Google Shape;283;p22"/>
          <p:cNvSpPr txBox="1"/>
          <p:nvPr/>
        </p:nvSpPr>
        <p:spPr>
          <a:xfrm>
            <a:off x="6438900" y="2246485"/>
            <a:ext cx="4886325" cy="61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25" b="1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Generalización</a:t>
            </a:r>
            <a:r>
              <a:rPr lang="en-US" sz="1425" b="1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La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brecha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mínima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entre Train y Test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garantiza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que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el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modelo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es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fiable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para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datos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inéditos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dirty="0"/>
          </a:p>
        </p:txBody>
      </p:sp>
      <p:sp>
        <p:nvSpPr>
          <p:cNvPr id="284" name="Google Shape;284;p22"/>
          <p:cNvSpPr txBox="1"/>
          <p:nvPr/>
        </p:nvSpPr>
        <p:spPr>
          <a:xfrm>
            <a:off x="866775" y="3800846"/>
            <a:ext cx="4886325" cy="61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25" b="1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Valor de las Variables: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Incluir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la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dispersión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(SD) y la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mediana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fue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clave para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neutralizar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el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ruido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de outliers.</a:t>
            </a:r>
            <a:endParaRPr dirty="0"/>
          </a:p>
        </p:txBody>
      </p:sp>
      <p:sp>
        <p:nvSpPr>
          <p:cNvPr id="285" name="Google Shape;285;p22"/>
          <p:cNvSpPr txBox="1"/>
          <p:nvPr/>
        </p:nvSpPr>
        <p:spPr>
          <a:xfrm>
            <a:off x="6438900" y="3800846"/>
            <a:ext cx="4886325" cy="61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25" b="1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Accionabilidad</a:t>
            </a:r>
            <a:r>
              <a:rPr lang="en-US" sz="1425" b="1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Se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entrega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un pipeline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listo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para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asignar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Scores de Valor a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los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647k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clientes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de la base.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088"/>
        </a:solidFill>
        <a:effectLst/>
      </p:bgPr>
    </p:bg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Google Shape;290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3"/>
          <p:cNvSpPr txBox="1"/>
          <p:nvPr/>
        </p:nvSpPr>
        <p:spPr>
          <a:xfrm>
            <a:off x="395287" y="2571750"/>
            <a:ext cx="11401425" cy="888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 b="1" i="0" u="none" strike="noStrike" cap="none" dirty="0">
                <a:solidFill>
                  <a:schemeClr val="bg1"/>
                </a:solidFill>
                <a:latin typeface="Merriweather"/>
                <a:ea typeface="Merriweather"/>
                <a:cs typeface="Merriweather"/>
                <a:sym typeface="Merriweather"/>
              </a:rPr>
              <a:t>¡Gracias!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93" name="Google Shape;293;p23"/>
          <p:cNvSpPr/>
          <p:nvPr/>
        </p:nvSpPr>
        <p:spPr>
          <a:xfrm>
            <a:off x="5857875" y="4101405"/>
            <a:ext cx="476250" cy="190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3"/>
          <p:cNvSpPr txBox="1"/>
          <p:nvPr/>
        </p:nvSpPr>
        <p:spPr>
          <a:xfrm>
            <a:off x="666750" y="4406205"/>
            <a:ext cx="1085850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Diplomado Ciencia de Datos - Fes Acatlán UNAM G33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992</Words>
  <Application>Microsoft Macintosh PowerPoint</Application>
  <PresentationFormat>Widescreen</PresentationFormat>
  <Paragraphs>113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Calibri</vt:lpstr>
      <vt:lpstr>Merriweather</vt:lpstr>
      <vt:lpstr>Arial</vt:lpstr>
      <vt:lpstr>DM Sans Medium</vt:lpstr>
      <vt:lpstr>DM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Alonso Dario Pizarro Lagunas</cp:lastModifiedBy>
  <cp:revision>5</cp:revision>
  <dcterms:modified xsi:type="dcterms:W3CDTF">2026-05-23T17:05:24Z</dcterms:modified>
</cp:coreProperties>
</file>